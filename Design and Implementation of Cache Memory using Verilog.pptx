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3ADC3A-9C18-4FFC-A943-32038126713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4958EE-B88E-4CE2-8649-A141B5EA379F}">
      <dgm:prSet/>
      <dgm:spPr/>
      <dgm:t>
        <a:bodyPr/>
        <a:lstStyle/>
        <a:p>
          <a:r>
            <a:rPr lang="en-US"/>
            <a:t>• 4×4 SRAM contains 4 memory locations</a:t>
          </a:r>
        </a:p>
      </dgm:t>
    </dgm:pt>
    <dgm:pt modelId="{4F756456-2A54-4A8B-B684-3C7760051844}" type="parTrans" cxnId="{3963591B-C019-44BF-8F39-070A4A09A90D}">
      <dgm:prSet/>
      <dgm:spPr/>
      <dgm:t>
        <a:bodyPr/>
        <a:lstStyle/>
        <a:p>
          <a:endParaRPr lang="en-US"/>
        </a:p>
      </dgm:t>
    </dgm:pt>
    <dgm:pt modelId="{91BD6AD1-CD9F-42DD-92B3-0C533B7A49E5}" type="sibTrans" cxnId="{3963591B-C019-44BF-8F39-070A4A09A90D}">
      <dgm:prSet/>
      <dgm:spPr/>
      <dgm:t>
        <a:bodyPr/>
        <a:lstStyle/>
        <a:p>
          <a:endParaRPr lang="en-US"/>
        </a:p>
      </dgm:t>
    </dgm:pt>
    <dgm:pt modelId="{C460680C-D1AB-4D91-8894-E02DF962D747}">
      <dgm:prSet/>
      <dgm:spPr/>
      <dgm:t>
        <a:bodyPr/>
        <a:lstStyle/>
        <a:p>
          <a:r>
            <a:rPr lang="en-US"/>
            <a:t>• Each location stores 4-bit data</a:t>
          </a:r>
        </a:p>
      </dgm:t>
    </dgm:pt>
    <dgm:pt modelId="{69626E65-C847-4B3B-88F1-8EACCFD3F1C7}" type="parTrans" cxnId="{84523E5D-F1D9-4F7D-BFA1-C06B5595D87A}">
      <dgm:prSet/>
      <dgm:spPr/>
      <dgm:t>
        <a:bodyPr/>
        <a:lstStyle/>
        <a:p>
          <a:endParaRPr lang="en-US"/>
        </a:p>
      </dgm:t>
    </dgm:pt>
    <dgm:pt modelId="{5AF8A8C5-5B0C-45AF-8DE8-3CB6EFBE971C}" type="sibTrans" cxnId="{84523E5D-F1D9-4F7D-BFA1-C06B5595D87A}">
      <dgm:prSet/>
      <dgm:spPr/>
      <dgm:t>
        <a:bodyPr/>
        <a:lstStyle/>
        <a:p>
          <a:endParaRPr lang="en-US"/>
        </a:p>
      </dgm:t>
    </dgm:pt>
    <dgm:pt modelId="{86DF6397-C88A-452D-89C4-B7100FDFE11A}">
      <dgm:prSet/>
      <dgm:spPr/>
      <dgm:t>
        <a:bodyPr/>
        <a:lstStyle/>
        <a:p>
          <a:r>
            <a:rPr lang="en-US"/>
            <a:t>• Total storage capacity = 16 bits</a:t>
          </a:r>
        </a:p>
      </dgm:t>
    </dgm:pt>
    <dgm:pt modelId="{1524EB94-5C52-4067-9AFD-863E0B261204}" type="parTrans" cxnId="{44E66D28-BAAB-4EFC-A261-235C2FB352D9}">
      <dgm:prSet/>
      <dgm:spPr/>
      <dgm:t>
        <a:bodyPr/>
        <a:lstStyle/>
        <a:p>
          <a:endParaRPr lang="en-US"/>
        </a:p>
      </dgm:t>
    </dgm:pt>
    <dgm:pt modelId="{7736B41D-9504-4B15-B63F-BCACCC29FF41}" type="sibTrans" cxnId="{44E66D28-BAAB-4EFC-A261-235C2FB352D9}">
      <dgm:prSet/>
      <dgm:spPr/>
      <dgm:t>
        <a:bodyPr/>
        <a:lstStyle/>
        <a:p>
          <a:endParaRPr lang="en-US"/>
        </a:p>
      </dgm:t>
    </dgm:pt>
    <dgm:pt modelId="{6A044565-CAD3-4536-A9D1-67984D23F618}">
      <dgm:prSet/>
      <dgm:spPr/>
      <dgm:t>
        <a:bodyPr/>
        <a:lstStyle/>
        <a:p>
          <a:r>
            <a:rPr lang="en-US"/>
            <a:t>• Address lines select one memory row</a:t>
          </a:r>
        </a:p>
      </dgm:t>
    </dgm:pt>
    <dgm:pt modelId="{64AEB2E0-BB8C-4F31-83B5-D4B469F996AC}" type="parTrans" cxnId="{78209C94-0D24-4E96-B01A-CEC6BFB568FC}">
      <dgm:prSet/>
      <dgm:spPr/>
      <dgm:t>
        <a:bodyPr/>
        <a:lstStyle/>
        <a:p>
          <a:endParaRPr lang="en-US"/>
        </a:p>
      </dgm:t>
    </dgm:pt>
    <dgm:pt modelId="{8E7665A0-E424-406C-8D64-57636535DA8D}" type="sibTrans" cxnId="{78209C94-0D24-4E96-B01A-CEC6BFB568FC}">
      <dgm:prSet/>
      <dgm:spPr/>
      <dgm:t>
        <a:bodyPr/>
        <a:lstStyle/>
        <a:p>
          <a:endParaRPr lang="en-US"/>
        </a:p>
      </dgm:t>
    </dgm:pt>
    <dgm:pt modelId="{BA427378-2F3C-4A6C-B241-AC988C67C5F4}">
      <dgm:prSet/>
      <dgm:spPr/>
      <dgm:t>
        <a:bodyPr/>
        <a:lstStyle/>
        <a:p>
          <a:r>
            <a:rPr lang="en-US"/>
            <a:t>• SRAM performs fast read/write operations</a:t>
          </a:r>
        </a:p>
      </dgm:t>
    </dgm:pt>
    <dgm:pt modelId="{C8792D48-6011-4AC1-B76D-FBD7E1A2456E}" type="parTrans" cxnId="{3E9858BC-3219-4620-859F-9E25E3BCDB5A}">
      <dgm:prSet/>
      <dgm:spPr/>
      <dgm:t>
        <a:bodyPr/>
        <a:lstStyle/>
        <a:p>
          <a:endParaRPr lang="en-US"/>
        </a:p>
      </dgm:t>
    </dgm:pt>
    <dgm:pt modelId="{029F342F-FB39-4011-A0B9-4036FA728CEE}" type="sibTrans" cxnId="{3E9858BC-3219-4620-859F-9E25E3BCDB5A}">
      <dgm:prSet/>
      <dgm:spPr/>
      <dgm:t>
        <a:bodyPr/>
        <a:lstStyle/>
        <a:p>
          <a:endParaRPr lang="en-US"/>
        </a:p>
      </dgm:t>
    </dgm:pt>
    <dgm:pt modelId="{D559AD59-F0DE-4693-9731-790BF3203D71}">
      <dgm:prSet/>
      <dgm:spPr/>
      <dgm:t>
        <a:bodyPr/>
        <a:lstStyle/>
        <a:p>
          <a:r>
            <a:rPr lang="en-US"/>
            <a:t>• Used as Data SRAM in cache memory</a:t>
          </a:r>
        </a:p>
      </dgm:t>
    </dgm:pt>
    <dgm:pt modelId="{D54AA271-07E0-4F37-80DC-CB0AD52563F9}" type="parTrans" cxnId="{A5727298-AF5B-4B20-B98E-AE6AEA528B05}">
      <dgm:prSet/>
      <dgm:spPr/>
      <dgm:t>
        <a:bodyPr/>
        <a:lstStyle/>
        <a:p>
          <a:endParaRPr lang="en-US"/>
        </a:p>
      </dgm:t>
    </dgm:pt>
    <dgm:pt modelId="{97A2B578-2883-425E-84DA-12E9FF52BD0C}" type="sibTrans" cxnId="{A5727298-AF5B-4B20-B98E-AE6AEA528B05}">
      <dgm:prSet/>
      <dgm:spPr/>
      <dgm:t>
        <a:bodyPr/>
        <a:lstStyle/>
        <a:p>
          <a:endParaRPr lang="en-US"/>
        </a:p>
      </dgm:t>
    </dgm:pt>
    <dgm:pt modelId="{16B80A69-9D9D-49C7-A32A-844AD4E5878B}" type="pres">
      <dgm:prSet presAssocID="{333ADC3A-9C18-4FFC-A943-320381267134}" presName="vert0" presStyleCnt="0">
        <dgm:presLayoutVars>
          <dgm:dir/>
          <dgm:animOne val="branch"/>
          <dgm:animLvl val="lvl"/>
        </dgm:presLayoutVars>
      </dgm:prSet>
      <dgm:spPr/>
    </dgm:pt>
    <dgm:pt modelId="{C53DF50C-3D50-4FFD-A831-299DD3CFF64F}" type="pres">
      <dgm:prSet presAssocID="{A64958EE-B88E-4CE2-8649-A141B5EA379F}" presName="thickLine" presStyleLbl="alignNode1" presStyleIdx="0" presStyleCnt="6"/>
      <dgm:spPr/>
    </dgm:pt>
    <dgm:pt modelId="{9BFA33BF-BA99-4708-A538-246993F01A0C}" type="pres">
      <dgm:prSet presAssocID="{A64958EE-B88E-4CE2-8649-A141B5EA379F}" presName="horz1" presStyleCnt="0"/>
      <dgm:spPr/>
    </dgm:pt>
    <dgm:pt modelId="{6CA10354-E0AC-4DD8-8289-31DF3D7D5BC2}" type="pres">
      <dgm:prSet presAssocID="{A64958EE-B88E-4CE2-8649-A141B5EA379F}" presName="tx1" presStyleLbl="revTx" presStyleIdx="0" presStyleCnt="6"/>
      <dgm:spPr/>
    </dgm:pt>
    <dgm:pt modelId="{105C59B1-6641-4679-8DA3-7258145B344A}" type="pres">
      <dgm:prSet presAssocID="{A64958EE-B88E-4CE2-8649-A141B5EA379F}" presName="vert1" presStyleCnt="0"/>
      <dgm:spPr/>
    </dgm:pt>
    <dgm:pt modelId="{6B12FE43-54B8-4E59-8751-C4D8956E0B58}" type="pres">
      <dgm:prSet presAssocID="{C460680C-D1AB-4D91-8894-E02DF962D747}" presName="thickLine" presStyleLbl="alignNode1" presStyleIdx="1" presStyleCnt="6"/>
      <dgm:spPr/>
    </dgm:pt>
    <dgm:pt modelId="{234FC99B-0660-4D82-9101-E2DDD0D35FDC}" type="pres">
      <dgm:prSet presAssocID="{C460680C-D1AB-4D91-8894-E02DF962D747}" presName="horz1" presStyleCnt="0"/>
      <dgm:spPr/>
    </dgm:pt>
    <dgm:pt modelId="{FE3112DF-9027-4D14-BEB3-841FB4176F43}" type="pres">
      <dgm:prSet presAssocID="{C460680C-D1AB-4D91-8894-E02DF962D747}" presName="tx1" presStyleLbl="revTx" presStyleIdx="1" presStyleCnt="6"/>
      <dgm:spPr/>
    </dgm:pt>
    <dgm:pt modelId="{95EE2097-66C3-48F4-B946-96318878FCAC}" type="pres">
      <dgm:prSet presAssocID="{C460680C-D1AB-4D91-8894-E02DF962D747}" presName="vert1" presStyleCnt="0"/>
      <dgm:spPr/>
    </dgm:pt>
    <dgm:pt modelId="{7A6745E2-77ED-4E96-8E36-3BAF09448893}" type="pres">
      <dgm:prSet presAssocID="{86DF6397-C88A-452D-89C4-B7100FDFE11A}" presName="thickLine" presStyleLbl="alignNode1" presStyleIdx="2" presStyleCnt="6"/>
      <dgm:spPr/>
    </dgm:pt>
    <dgm:pt modelId="{FB4CF708-30D7-437E-AEFA-4E41278230FE}" type="pres">
      <dgm:prSet presAssocID="{86DF6397-C88A-452D-89C4-B7100FDFE11A}" presName="horz1" presStyleCnt="0"/>
      <dgm:spPr/>
    </dgm:pt>
    <dgm:pt modelId="{EDAE62A1-1B7B-43A4-A54A-5B432009C18C}" type="pres">
      <dgm:prSet presAssocID="{86DF6397-C88A-452D-89C4-B7100FDFE11A}" presName="tx1" presStyleLbl="revTx" presStyleIdx="2" presStyleCnt="6"/>
      <dgm:spPr/>
    </dgm:pt>
    <dgm:pt modelId="{467688C3-7FC9-4AC6-927F-7B3FE9FFF148}" type="pres">
      <dgm:prSet presAssocID="{86DF6397-C88A-452D-89C4-B7100FDFE11A}" presName="vert1" presStyleCnt="0"/>
      <dgm:spPr/>
    </dgm:pt>
    <dgm:pt modelId="{66393663-DA30-41A1-BF2A-0995FA18A39F}" type="pres">
      <dgm:prSet presAssocID="{6A044565-CAD3-4536-A9D1-67984D23F618}" presName="thickLine" presStyleLbl="alignNode1" presStyleIdx="3" presStyleCnt="6"/>
      <dgm:spPr/>
    </dgm:pt>
    <dgm:pt modelId="{A302F64C-B0E2-43C9-90D8-805AFBFAA416}" type="pres">
      <dgm:prSet presAssocID="{6A044565-CAD3-4536-A9D1-67984D23F618}" presName="horz1" presStyleCnt="0"/>
      <dgm:spPr/>
    </dgm:pt>
    <dgm:pt modelId="{42EEE8F2-3453-40B5-A52E-A3B795D48B84}" type="pres">
      <dgm:prSet presAssocID="{6A044565-CAD3-4536-A9D1-67984D23F618}" presName="tx1" presStyleLbl="revTx" presStyleIdx="3" presStyleCnt="6"/>
      <dgm:spPr/>
    </dgm:pt>
    <dgm:pt modelId="{C9EC8F01-2247-4A7C-BF40-72248AD63EA7}" type="pres">
      <dgm:prSet presAssocID="{6A044565-CAD3-4536-A9D1-67984D23F618}" presName="vert1" presStyleCnt="0"/>
      <dgm:spPr/>
    </dgm:pt>
    <dgm:pt modelId="{FE5DC9C2-B9B3-4671-8C0D-4D7DD6CF3945}" type="pres">
      <dgm:prSet presAssocID="{BA427378-2F3C-4A6C-B241-AC988C67C5F4}" presName="thickLine" presStyleLbl="alignNode1" presStyleIdx="4" presStyleCnt="6"/>
      <dgm:spPr/>
    </dgm:pt>
    <dgm:pt modelId="{64029A0C-4FC5-4B53-A80F-58CA1686F20C}" type="pres">
      <dgm:prSet presAssocID="{BA427378-2F3C-4A6C-B241-AC988C67C5F4}" presName="horz1" presStyleCnt="0"/>
      <dgm:spPr/>
    </dgm:pt>
    <dgm:pt modelId="{67829A09-0205-4001-8325-5E6BFDFB9E86}" type="pres">
      <dgm:prSet presAssocID="{BA427378-2F3C-4A6C-B241-AC988C67C5F4}" presName="tx1" presStyleLbl="revTx" presStyleIdx="4" presStyleCnt="6"/>
      <dgm:spPr/>
    </dgm:pt>
    <dgm:pt modelId="{34C5B906-3A0A-41D3-8F45-60509A132D9D}" type="pres">
      <dgm:prSet presAssocID="{BA427378-2F3C-4A6C-B241-AC988C67C5F4}" presName="vert1" presStyleCnt="0"/>
      <dgm:spPr/>
    </dgm:pt>
    <dgm:pt modelId="{AF8015AA-6361-4C2D-9412-EDC2ADDB2645}" type="pres">
      <dgm:prSet presAssocID="{D559AD59-F0DE-4693-9731-790BF3203D71}" presName="thickLine" presStyleLbl="alignNode1" presStyleIdx="5" presStyleCnt="6"/>
      <dgm:spPr/>
    </dgm:pt>
    <dgm:pt modelId="{6639807C-54AF-4D91-91A7-28E74E4FFD7B}" type="pres">
      <dgm:prSet presAssocID="{D559AD59-F0DE-4693-9731-790BF3203D71}" presName="horz1" presStyleCnt="0"/>
      <dgm:spPr/>
    </dgm:pt>
    <dgm:pt modelId="{F3B804DB-82E5-45F1-8D02-02B8E51DAF5D}" type="pres">
      <dgm:prSet presAssocID="{D559AD59-F0DE-4693-9731-790BF3203D71}" presName="tx1" presStyleLbl="revTx" presStyleIdx="5" presStyleCnt="6"/>
      <dgm:spPr/>
    </dgm:pt>
    <dgm:pt modelId="{66B6415F-5496-471B-8842-51895D28BE30}" type="pres">
      <dgm:prSet presAssocID="{D559AD59-F0DE-4693-9731-790BF3203D71}" presName="vert1" presStyleCnt="0"/>
      <dgm:spPr/>
    </dgm:pt>
  </dgm:ptLst>
  <dgm:cxnLst>
    <dgm:cxn modelId="{3963591B-C019-44BF-8F39-070A4A09A90D}" srcId="{333ADC3A-9C18-4FFC-A943-320381267134}" destId="{A64958EE-B88E-4CE2-8649-A141B5EA379F}" srcOrd="0" destOrd="0" parTransId="{4F756456-2A54-4A8B-B684-3C7760051844}" sibTransId="{91BD6AD1-CD9F-42DD-92B3-0C533B7A49E5}"/>
    <dgm:cxn modelId="{44E66D28-BAAB-4EFC-A261-235C2FB352D9}" srcId="{333ADC3A-9C18-4FFC-A943-320381267134}" destId="{86DF6397-C88A-452D-89C4-B7100FDFE11A}" srcOrd="2" destOrd="0" parTransId="{1524EB94-5C52-4067-9AFD-863E0B261204}" sibTransId="{7736B41D-9504-4B15-B63F-BCACCC29FF41}"/>
    <dgm:cxn modelId="{84523E5D-F1D9-4F7D-BFA1-C06B5595D87A}" srcId="{333ADC3A-9C18-4FFC-A943-320381267134}" destId="{C460680C-D1AB-4D91-8894-E02DF962D747}" srcOrd="1" destOrd="0" parTransId="{69626E65-C847-4B3B-88F1-8EACCFD3F1C7}" sibTransId="{5AF8A8C5-5B0C-45AF-8DE8-3CB6EFBE971C}"/>
    <dgm:cxn modelId="{CB91E26C-07D3-4B7A-BC36-2574D0C017F3}" type="presOf" srcId="{BA427378-2F3C-4A6C-B241-AC988C67C5F4}" destId="{67829A09-0205-4001-8325-5E6BFDFB9E86}" srcOrd="0" destOrd="0" presId="urn:microsoft.com/office/officeart/2008/layout/LinedList"/>
    <dgm:cxn modelId="{6C6D5F81-FA5D-4DBD-AEF4-7D2A98228674}" type="presOf" srcId="{C460680C-D1AB-4D91-8894-E02DF962D747}" destId="{FE3112DF-9027-4D14-BEB3-841FB4176F43}" srcOrd="0" destOrd="0" presId="urn:microsoft.com/office/officeart/2008/layout/LinedList"/>
    <dgm:cxn modelId="{3B7CFF84-65F0-42DD-838B-AACD07A2D835}" type="presOf" srcId="{6A044565-CAD3-4536-A9D1-67984D23F618}" destId="{42EEE8F2-3453-40B5-A52E-A3B795D48B84}" srcOrd="0" destOrd="0" presId="urn:microsoft.com/office/officeart/2008/layout/LinedList"/>
    <dgm:cxn modelId="{78209C94-0D24-4E96-B01A-CEC6BFB568FC}" srcId="{333ADC3A-9C18-4FFC-A943-320381267134}" destId="{6A044565-CAD3-4536-A9D1-67984D23F618}" srcOrd="3" destOrd="0" parTransId="{64AEB2E0-BB8C-4F31-83B5-D4B469F996AC}" sibTransId="{8E7665A0-E424-406C-8D64-57636535DA8D}"/>
    <dgm:cxn modelId="{A5727298-AF5B-4B20-B98E-AE6AEA528B05}" srcId="{333ADC3A-9C18-4FFC-A943-320381267134}" destId="{D559AD59-F0DE-4693-9731-790BF3203D71}" srcOrd="5" destOrd="0" parTransId="{D54AA271-07E0-4F37-80DC-CB0AD52563F9}" sibTransId="{97A2B578-2883-425E-84DA-12E9FF52BD0C}"/>
    <dgm:cxn modelId="{C60BDEA4-C493-4447-BB3D-9AD2BE84852D}" type="presOf" srcId="{333ADC3A-9C18-4FFC-A943-320381267134}" destId="{16B80A69-9D9D-49C7-A32A-844AD4E5878B}" srcOrd="0" destOrd="0" presId="urn:microsoft.com/office/officeart/2008/layout/LinedList"/>
    <dgm:cxn modelId="{3E9858BC-3219-4620-859F-9E25E3BCDB5A}" srcId="{333ADC3A-9C18-4FFC-A943-320381267134}" destId="{BA427378-2F3C-4A6C-B241-AC988C67C5F4}" srcOrd="4" destOrd="0" parTransId="{C8792D48-6011-4AC1-B76D-FBD7E1A2456E}" sibTransId="{029F342F-FB39-4011-A0B9-4036FA728CEE}"/>
    <dgm:cxn modelId="{6EC210C5-C392-42CA-95B9-1ADC8C99EB2D}" type="presOf" srcId="{86DF6397-C88A-452D-89C4-B7100FDFE11A}" destId="{EDAE62A1-1B7B-43A4-A54A-5B432009C18C}" srcOrd="0" destOrd="0" presId="urn:microsoft.com/office/officeart/2008/layout/LinedList"/>
    <dgm:cxn modelId="{A4C095C7-ECC9-4AC8-B33C-437BAA12A5BC}" type="presOf" srcId="{D559AD59-F0DE-4693-9731-790BF3203D71}" destId="{F3B804DB-82E5-45F1-8D02-02B8E51DAF5D}" srcOrd="0" destOrd="0" presId="urn:microsoft.com/office/officeart/2008/layout/LinedList"/>
    <dgm:cxn modelId="{97A001EB-2511-4C2F-BF06-84719BA349DB}" type="presOf" srcId="{A64958EE-B88E-4CE2-8649-A141B5EA379F}" destId="{6CA10354-E0AC-4DD8-8289-31DF3D7D5BC2}" srcOrd="0" destOrd="0" presId="urn:microsoft.com/office/officeart/2008/layout/LinedList"/>
    <dgm:cxn modelId="{1FE3F7FB-CB0A-4A1C-A031-15A732E697B8}" type="presParOf" srcId="{16B80A69-9D9D-49C7-A32A-844AD4E5878B}" destId="{C53DF50C-3D50-4FFD-A831-299DD3CFF64F}" srcOrd="0" destOrd="0" presId="urn:microsoft.com/office/officeart/2008/layout/LinedList"/>
    <dgm:cxn modelId="{B109E127-8DAA-45FF-8CB6-DBFA3E0070DC}" type="presParOf" srcId="{16B80A69-9D9D-49C7-A32A-844AD4E5878B}" destId="{9BFA33BF-BA99-4708-A538-246993F01A0C}" srcOrd="1" destOrd="0" presId="urn:microsoft.com/office/officeart/2008/layout/LinedList"/>
    <dgm:cxn modelId="{30D15D3D-A564-444D-A1ED-AC99DD4DE46A}" type="presParOf" srcId="{9BFA33BF-BA99-4708-A538-246993F01A0C}" destId="{6CA10354-E0AC-4DD8-8289-31DF3D7D5BC2}" srcOrd="0" destOrd="0" presId="urn:microsoft.com/office/officeart/2008/layout/LinedList"/>
    <dgm:cxn modelId="{DC607CEB-2EDE-448D-93B2-56B0CE1B59EE}" type="presParOf" srcId="{9BFA33BF-BA99-4708-A538-246993F01A0C}" destId="{105C59B1-6641-4679-8DA3-7258145B344A}" srcOrd="1" destOrd="0" presId="urn:microsoft.com/office/officeart/2008/layout/LinedList"/>
    <dgm:cxn modelId="{3C46C45C-25D8-4174-B133-AD8974698D11}" type="presParOf" srcId="{16B80A69-9D9D-49C7-A32A-844AD4E5878B}" destId="{6B12FE43-54B8-4E59-8751-C4D8956E0B58}" srcOrd="2" destOrd="0" presId="urn:microsoft.com/office/officeart/2008/layout/LinedList"/>
    <dgm:cxn modelId="{FB503942-6802-41B2-BA33-A7D48762D51F}" type="presParOf" srcId="{16B80A69-9D9D-49C7-A32A-844AD4E5878B}" destId="{234FC99B-0660-4D82-9101-E2DDD0D35FDC}" srcOrd="3" destOrd="0" presId="urn:microsoft.com/office/officeart/2008/layout/LinedList"/>
    <dgm:cxn modelId="{F8221C94-DD87-4648-AB63-47DAB46A2617}" type="presParOf" srcId="{234FC99B-0660-4D82-9101-E2DDD0D35FDC}" destId="{FE3112DF-9027-4D14-BEB3-841FB4176F43}" srcOrd="0" destOrd="0" presId="urn:microsoft.com/office/officeart/2008/layout/LinedList"/>
    <dgm:cxn modelId="{C077386D-4EFC-4A16-8D46-1EB87D429ED8}" type="presParOf" srcId="{234FC99B-0660-4D82-9101-E2DDD0D35FDC}" destId="{95EE2097-66C3-48F4-B946-96318878FCAC}" srcOrd="1" destOrd="0" presId="urn:microsoft.com/office/officeart/2008/layout/LinedList"/>
    <dgm:cxn modelId="{1A7585D8-82DF-4A88-914E-DE1AEF7D5DD3}" type="presParOf" srcId="{16B80A69-9D9D-49C7-A32A-844AD4E5878B}" destId="{7A6745E2-77ED-4E96-8E36-3BAF09448893}" srcOrd="4" destOrd="0" presId="urn:microsoft.com/office/officeart/2008/layout/LinedList"/>
    <dgm:cxn modelId="{D44E014E-EAC2-4882-9551-7F6D39C2ACE6}" type="presParOf" srcId="{16B80A69-9D9D-49C7-A32A-844AD4E5878B}" destId="{FB4CF708-30D7-437E-AEFA-4E41278230FE}" srcOrd="5" destOrd="0" presId="urn:microsoft.com/office/officeart/2008/layout/LinedList"/>
    <dgm:cxn modelId="{971C8D75-5EBD-413B-BC49-D7BB50220EBA}" type="presParOf" srcId="{FB4CF708-30D7-437E-AEFA-4E41278230FE}" destId="{EDAE62A1-1B7B-43A4-A54A-5B432009C18C}" srcOrd="0" destOrd="0" presId="urn:microsoft.com/office/officeart/2008/layout/LinedList"/>
    <dgm:cxn modelId="{5F7C3EFF-7EC9-49C2-A223-C6F02DDA9859}" type="presParOf" srcId="{FB4CF708-30D7-437E-AEFA-4E41278230FE}" destId="{467688C3-7FC9-4AC6-927F-7B3FE9FFF148}" srcOrd="1" destOrd="0" presId="urn:microsoft.com/office/officeart/2008/layout/LinedList"/>
    <dgm:cxn modelId="{53F7FE61-6288-4413-BA3D-61158C898C3B}" type="presParOf" srcId="{16B80A69-9D9D-49C7-A32A-844AD4E5878B}" destId="{66393663-DA30-41A1-BF2A-0995FA18A39F}" srcOrd="6" destOrd="0" presId="urn:microsoft.com/office/officeart/2008/layout/LinedList"/>
    <dgm:cxn modelId="{49D64AAE-EBA3-4A3F-9497-968534D3EAF7}" type="presParOf" srcId="{16B80A69-9D9D-49C7-A32A-844AD4E5878B}" destId="{A302F64C-B0E2-43C9-90D8-805AFBFAA416}" srcOrd="7" destOrd="0" presId="urn:microsoft.com/office/officeart/2008/layout/LinedList"/>
    <dgm:cxn modelId="{034C5229-2F42-4E7C-94A1-B4AEE3E1CF9A}" type="presParOf" srcId="{A302F64C-B0E2-43C9-90D8-805AFBFAA416}" destId="{42EEE8F2-3453-40B5-A52E-A3B795D48B84}" srcOrd="0" destOrd="0" presId="urn:microsoft.com/office/officeart/2008/layout/LinedList"/>
    <dgm:cxn modelId="{3754EAE1-2C08-4CDF-B1A7-482DCD6660BA}" type="presParOf" srcId="{A302F64C-B0E2-43C9-90D8-805AFBFAA416}" destId="{C9EC8F01-2247-4A7C-BF40-72248AD63EA7}" srcOrd="1" destOrd="0" presId="urn:microsoft.com/office/officeart/2008/layout/LinedList"/>
    <dgm:cxn modelId="{09173259-7966-4E56-86B6-CC2236EA5A4D}" type="presParOf" srcId="{16B80A69-9D9D-49C7-A32A-844AD4E5878B}" destId="{FE5DC9C2-B9B3-4671-8C0D-4D7DD6CF3945}" srcOrd="8" destOrd="0" presId="urn:microsoft.com/office/officeart/2008/layout/LinedList"/>
    <dgm:cxn modelId="{CF107E04-AF68-4407-9675-CFA9D826CE83}" type="presParOf" srcId="{16B80A69-9D9D-49C7-A32A-844AD4E5878B}" destId="{64029A0C-4FC5-4B53-A80F-58CA1686F20C}" srcOrd="9" destOrd="0" presId="urn:microsoft.com/office/officeart/2008/layout/LinedList"/>
    <dgm:cxn modelId="{1FF489F4-54D7-40E2-9157-5277937E38C3}" type="presParOf" srcId="{64029A0C-4FC5-4B53-A80F-58CA1686F20C}" destId="{67829A09-0205-4001-8325-5E6BFDFB9E86}" srcOrd="0" destOrd="0" presId="urn:microsoft.com/office/officeart/2008/layout/LinedList"/>
    <dgm:cxn modelId="{4439A9DF-562B-4B72-AA1F-B2B6DFDEEA8D}" type="presParOf" srcId="{64029A0C-4FC5-4B53-A80F-58CA1686F20C}" destId="{34C5B906-3A0A-41D3-8F45-60509A132D9D}" srcOrd="1" destOrd="0" presId="urn:microsoft.com/office/officeart/2008/layout/LinedList"/>
    <dgm:cxn modelId="{7B94BC95-F236-482F-949D-CC88F0698F20}" type="presParOf" srcId="{16B80A69-9D9D-49C7-A32A-844AD4E5878B}" destId="{AF8015AA-6361-4C2D-9412-EDC2ADDB2645}" srcOrd="10" destOrd="0" presId="urn:microsoft.com/office/officeart/2008/layout/LinedList"/>
    <dgm:cxn modelId="{1A45DB84-0042-4738-9C93-AB3BBDD5AD5F}" type="presParOf" srcId="{16B80A69-9D9D-49C7-A32A-844AD4E5878B}" destId="{6639807C-54AF-4D91-91A7-28E74E4FFD7B}" srcOrd="11" destOrd="0" presId="urn:microsoft.com/office/officeart/2008/layout/LinedList"/>
    <dgm:cxn modelId="{670F5376-FFAC-461F-9C09-CC47121D8749}" type="presParOf" srcId="{6639807C-54AF-4D91-91A7-28E74E4FFD7B}" destId="{F3B804DB-82E5-45F1-8D02-02B8E51DAF5D}" srcOrd="0" destOrd="0" presId="urn:microsoft.com/office/officeart/2008/layout/LinedList"/>
    <dgm:cxn modelId="{6E1F9757-1286-47D5-9650-1B0B420A4303}" type="presParOf" srcId="{6639807C-54AF-4D91-91A7-28E74E4FFD7B}" destId="{66B6415F-5496-471B-8842-51895D28BE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86AF73-3466-40D5-9C6D-A5B4821A668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9F36144-FAE6-4475-9A4B-971E8D5A86F2}">
      <dgm:prSet/>
      <dgm:spPr/>
      <dgm:t>
        <a:bodyPr/>
        <a:lstStyle/>
        <a:p>
          <a:r>
            <a:rPr lang="en-US"/>
            <a:t>• Stores cache tag information.</a:t>
          </a:r>
          <a:endParaRPr lang="en-IN"/>
        </a:p>
      </dgm:t>
    </dgm:pt>
    <dgm:pt modelId="{93812E79-FCE7-4955-B492-B192C0C7B57A}" type="parTrans" cxnId="{CC521AB7-362F-40E6-AC13-E5368813E9FB}">
      <dgm:prSet/>
      <dgm:spPr/>
      <dgm:t>
        <a:bodyPr/>
        <a:lstStyle/>
        <a:p>
          <a:endParaRPr lang="en-IN"/>
        </a:p>
      </dgm:t>
    </dgm:pt>
    <dgm:pt modelId="{CB7481BE-504F-4F28-982D-82B7C74C2FC2}" type="sibTrans" cxnId="{CC521AB7-362F-40E6-AC13-E5368813E9FB}">
      <dgm:prSet/>
      <dgm:spPr/>
      <dgm:t>
        <a:bodyPr/>
        <a:lstStyle/>
        <a:p>
          <a:endParaRPr lang="en-IN"/>
        </a:p>
      </dgm:t>
    </dgm:pt>
    <dgm:pt modelId="{2DA061B5-5E85-4837-842B-D5641D959396}">
      <dgm:prSet/>
      <dgm:spPr/>
      <dgm:t>
        <a:bodyPr/>
        <a:lstStyle/>
        <a:p>
          <a:r>
            <a:rPr lang="en-US"/>
            <a:t>• Contains 4 memory locations.</a:t>
          </a:r>
          <a:endParaRPr lang="en-IN"/>
        </a:p>
      </dgm:t>
    </dgm:pt>
    <dgm:pt modelId="{D7DD4192-DAE3-4080-BD96-A8BE85CB0B5C}" type="parTrans" cxnId="{E9F8C276-BA60-43BF-901C-F9C5FA35F5EF}">
      <dgm:prSet/>
      <dgm:spPr/>
      <dgm:t>
        <a:bodyPr/>
        <a:lstStyle/>
        <a:p>
          <a:endParaRPr lang="en-IN"/>
        </a:p>
      </dgm:t>
    </dgm:pt>
    <dgm:pt modelId="{8686A19E-F0E9-4903-988D-1280E5F41AF3}" type="sibTrans" cxnId="{E9F8C276-BA60-43BF-901C-F9C5FA35F5EF}">
      <dgm:prSet/>
      <dgm:spPr/>
      <dgm:t>
        <a:bodyPr/>
        <a:lstStyle/>
        <a:p>
          <a:endParaRPr lang="en-IN"/>
        </a:p>
      </dgm:t>
    </dgm:pt>
    <dgm:pt modelId="{56D8670E-BE29-4433-88EB-93915E74328C}">
      <dgm:prSet/>
      <dgm:spPr/>
      <dgm:t>
        <a:bodyPr/>
        <a:lstStyle/>
        <a:p>
          <a:r>
            <a:rPr lang="en-US"/>
            <a:t>• Each location stores 3-bit tag.</a:t>
          </a:r>
          <a:endParaRPr lang="en-IN"/>
        </a:p>
      </dgm:t>
    </dgm:pt>
    <dgm:pt modelId="{97B15E06-3BAC-476B-97A9-77A0C58E9297}" type="parTrans" cxnId="{89FD2ADD-4E74-4A54-ADE4-FE307CB67206}">
      <dgm:prSet/>
      <dgm:spPr/>
      <dgm:t>
        <a:bodyPr/>
        <a:lstStyle/>
        <a:p>
          <a:endParaRPr lang="en-IN"/>
        </a:p>
      </dgm:t>
    </dgm:pt>
    <dgm:pt modelId="{46426FB3-5456-41C2-96E1-AB04E2E43194}" type="sibTrans" cxnId="{89FD2ADD-4E74-4A54-ADE4-FE307CB67206}">
      <dgm:prSet/>
      <dgm:spPr/>
      <dgm:t>
        <a:bodyPr/>
        <a:lstStyle/>
        <a:p>
          <a:endParaRPr lang="en-IN"/>
        </a:p>
      </dgm:t>
    </dgm:pt>
    <dgm:pt modelId="{F9A437FC-B336-4634-8813-A55DF812D220}">
      <dgm:prSet/>
      <dgm:spPr/>
      <dgm:t>
        <a:bodyPr/>
        <a:lstStyle/>
        <a:p>
          <a:r>
            <a:rPr lang="en-US"/>
            <a:t>• Used for cache hit detection.</a:t>
          </a:r>
          <a:endParaRPr lang="en-IN"/>
        </a:p>
      </dgm:t>
    </dgm:pt>
    <dgm:pt modelId="{EA3823CE-558D-48E1-819E-D02BA6CEEE82}" type="parTrans" cxnId="{B629EF67-62A2-49B9-B846-4CE1F9D7D9D3}">
      <dgm:prSet/>
      <dgm:spPr/>
      <dgm:t>
        <a:bodyPr/>
        <a:lstStyle/>
        <a:p>
          <a:endParaRPr lang="en-IN"/>
        </a:p>
      </dgm:t>
    </dgm:pt>
    <dgm:pt modelId="{34E9EDA6-B595-4D8B-8CD6-878BD70208F1}" type="sibTrans" cxnId="{B629EF67-62A2-49B9-B846-4CE1F9D7D9D3}">
      <dgm:prSet/>
      <dgm:spPr/>
      <dgm:t>
        <a:bodyPr/>
        <a:lstStyle/>
        <a:p>
          <a:endParaRPr lang="en-IN"/>
        </a:p>
      </dgm:t>
    </dgm:pt>
    <dgm:pt modelId="{C0BC77DB-0F3A-4661-A279-F6E2C2075211}">
      <dgm:prSet/>
      <dgm:spPr/>
      <dgm:t>
        <a:bodyPr/>
        <a:lstStyle/>
        <a:p>
          <a:r>
            <a:rPr lang="en-US"/>
            <a:t>• Tag compared with CPU address tag.</a:t>
          </a:r>
          <a:endParaRPr lang="en-IN"/>
        </a:p>
      </dgm:t>
    </dgm:pt>
    <dgm:pt modelId="{E98FE05A-6E65-4CD0-94ED-2866D3323669}" type="parTrans" cxnId="{85320563-D420-4B3A-9A8B-113613E3BF6C}">
      <dgm:prSet/>
      <dgm:spPr/>
      <dgm:t>
        <a:bodyPr/>
        <a:lstStyle/>
        <a:p>
          <a:endParaRPr lang="en-IN"/>
        </a:p>
      </dgm:t>
    </dgm:pt>
    <dgm:pt modelId="{4678F2B2-778C-4AFF-8478-8519DC35B1B9}" type="sibTrans" cxnId="{85320563-D420-4B3A-9A8B-113613E3BF6C}">
      <dgm:prSet/>
      <dgm:spPr/>
      <dgm:t>
        <a:bodyPr/>
        <a:lstStyle/>
        <a:p>
          <a:endParaRPr lang="en-IN"/>
        </a:p>
      </dgm:t>
    </dgm:pt>
    <dgm:pt modelId="{58306A67-6E8D-4277-B698-6D43E000550D}">
      <dgm:prSet/>
      <dgm:spPr/>
      <dgm:t>
        <a:bodyPr/>
        <a:lstStyle/>
        <a:p>
          <a:r>
            <a:rPr lang="en-US"/>
            <a:t>• Works together with comparator logic.</a:t>
          </a:r>
          <a:endParaRPr lang="en-IN"/>
        </a:p>
      </dgm:t>
    </dgm:pt>
    <dgm:pt modelId="{2BECB3E3-B896-40FB-B4A4-BBE1FD55A908}" type="parTrans" cxnId="{02D46D70-CA8F-4900-992E-E71DE838681F}">
      <dgm:prSet/>
      <dgm:spPr/>
      <dgm:t>
        <a:bodyPr/>
        <a:lstStyle/>
        <a:p>
          <a:endParaRPr lang="en-IN"/>
        </a:p>
      </dgm:t>
    </dgm:pt>
    <dgm:pt modelId="{936D7E15-E5BB-44C3-ADDB-4A61EF6CF89E}" type="sibTrans" cxnId="{02D46D70-CA8F-4900-992E-E71DE838681F}">
      <dgm:prSet/>
      <dgm:spPr/>
      <dgm:t>
        <a:bodyPr/>
        <a:lstStyle/>
        <a:p>
          <a:endParaRPr lang="en-IN"/>
        </a:p>
      </dgm:t>
    </dgm:pt>
    <dgm:pt modelId="{36920355-C766-4CAF-B2B8-BD13B30B2B3E}" type="pres">
      <dgm:prSet presAssocID="{B486AF73-3466-40D5-9C6D-A5B4821A668A}" presName="vert0" presStyleCnt="0">
        <dgm:presLayoutVars>
          <dgm:dir/>
          <dgm:animOne val="branch"/>
          <dgm:animLvl val="lvl"/>
        </dgm:presLayoutVars>
      </dgm:prSet>
      <dgm:spPr/>
    </dgm:pt>
    <dgm:pt modelId="{34DDEC44-EAAB-42CE-8B38-8917263B9095}" type="pres">
      <dgm:prSet presAssocID="{29F36144-FAE6-4475-9A4B-971E8D5A86F2}" presName="thickLine" presStyleLbl="alignNode1" presStyleIdx="0" presStyleCnt="6"/>
      <dgm:spPr/>
    </dgm:pt>
    <dgm:pt modelId="{704E1CA2-7E3A-420E-BF6B-F76117750CCF}" type="pres">
      <dgm:prSet presAssocID="{29F36144-FAE6-4475-9A4B-971E8D5A86F2}" presName="horz1" presStyleCnt="0"/>
      <dgm:spPr/>
    </dgm:pt>
    <dgm:pt modelId="{0DCC2686-5FE2-4CF0-B44B-2B15D9995C16}" type="pres">
      <dgm:prSet presAssocID="{29F36144-FAE6-4475-9A4B-971E8D5A86F2}" presName="tx1" presStyleLbl="revTx" presStyleIdx="0" presStyleCnt="6"/>
      <dgm:spPr/>
    </dgm:pt>
    <dgm:pt modelId="{954FBC9F-D490-489F-BB45-69072A60EEDE}" type="pres">
      <dgm:prSet presAssocID="{29F36144-FAE6-4475-9A4B-971E8D5A86F2}" presName="vert1" presStyleCnt="0"/>
      <dgm:spPr/>
    </dgm:pt>
    <dgm:pt modelId="{FF5BF049-3177-4AE7-9CCF-215D85878E95}" type="pres">
      <dgm:prSet presAssocID="{2DA061B5-5E85-4837-842B-D5641D959396}" presName="thickLine" presStyleLbl="alignNode1" presStyleIdx="1" presStyleCnt="6"/>
      <dgm:spPr/>
    </dgm:pt>
    <dgm:pt modelId="{60E3281A-A5DC-41B6-B86D-37CF5C55797E}" type="pres">
      <dgm:prSet presAssocID="{2DA061B5-5E85-4837-842B-D5641D959396}" presName="horz1" presStyleCnt="0"/>
      <dgm:spPr/>
    </dgm:pt>
    <dgm:pt modelId="{60DFDBC2-4E2E-4C2E-8CD1-2775B875F021}" type="pres">
      <dgm:prSet presAssocID="{2DA061B5-5E85-4837-842B-D5641D959396}" presName="tx1" presStyleLbl="revTx" presStyleIdx="1" presStyleCnt="6"/>
      <dgm:spPr/>
    </dgm:pt>
    <dgm:pt modelId="{0CE17BE4-3716-4709-82D6-69BF1F09AAA5}" type="pres">
      <dgm:prSet presAssocID="{2DA061B5-5E85-4837-842B-D5641D959396}" presName="vert1" presStyleCnt="0"/>
      <dgm:spPr/>
    </dgm:pt>
    <dgm:pt modelId="{4C60784D-29F3-498A-9637-DBF61FDA2449}" type="pres">
      <dgm:prSet presAssocID="{56D8670E-BE29-4433-88EB-93915E74328C}" presName="thickLine" presStyleLbl="alignNode1" presStyleIdx="2" presStyleCnt="6"/>
      <dgm:spPr/>
    </dgm:pt>
    <dgm:pt modelId="{60F07F24-A38D-4B69-9E5E-877C6F5675DB}" type="pres">
      <dgm:prSet presAssocID="{56D8670E-BE29-4433-88EB-93915E74328C}" presName="horz1" presStyleCnt="0"/>
      <dgm:spPr/>
    </dgm:pt>
    <dgm:pt modelId="{C33C4520-1E09-464D-8C41-B359577F81F9}" type="pres">
      <dgm:prSet presAssocID="{56D8670E-BE29-4433-88EB-93915E74328C}" presName="tx1" presStyleLbl="revTx" presStyleIdx="2" presStyleCnt="6"/>
      <dgm:spPr/>
    </dgm:pt>
    <dgm:pt modelId="{CC585358-80B4-41CC-A6D2-0DE020D6054A}" type="pres">
      <dgm:prSet presAssocID="{56D8670E-BE29-4433-88EB-93915E74328C}" presName="vert1" presStyleCnt="0"/>
      <dgm:spPr/>
    </dgm:pt>
    <dgm:pt modelId="{D342526E-B719-4D11-AA2B-CFFCEEA956A2}" type="pres">
      <dgm:prSet presAssocID="{F9A437FC-B336-4634-8813-A55DF812D220}" presName="thickLine" presStyleLbl="alignNode1" presStyleIdx="3" presStyleCnt="6"/>
      <dgm:spPr/>
    </dgm:pt>
    <dgm:pt modelId="{2CBAEA03-CA61-430B-AB3A-397C77B2826B}" type="pres">
      <dgm:prSet presAssocID="{F9A437FC-B336-4634-8813-A55DF812D220}" presName="horz1" presStyleCnt="0"/>
      <dgm:spPr/>
    </dgm:pt>
    <dgm:pt modelId="{2366DCBC-3DA3-4725-8290-0F411CF3C9E8}" type="pres">
      <dgm:prSet presAssocID="{F9A437FC-B336-4634-8813-A55DF812D220}" presName="tx1" presStyleLbl="revTx" presStyleIdx="3" presStyleCnt="6"/>
      <dgm:spPr/>
    </dgm:pt>
    <dgm:pt modelId="{75B97870-3419-40FF-94BD-B5D109CBB818}" type="pres">
      <dgm:prSet presAssocID="{F9A437FC-B336-4634-8813-A55DF812D220}" presName="vert1" presStyleCnt="0"/>
      <dgm:spPr/>
    </dgm:pt>
    <dgm:pt modelId="{ECDE6A73-8E6F-497B-95C8-4890FCF5D289}" type="pres">
      <dgm:prSet presAssocID="{C0BC77DB-0F3A-4661-A279-F6E2C2075211}" presName="thickLine" presStyleLbl="alignNode1" presStyleIdx="4" presStyleCnt="6"/>
      <dgm:spPr/>
    </dgm:pt>
    <dgm:pt modelId="{9A9EB47A-82A8-426E-AAED-CFD7328C13A0}" type="pres">
      <dgm:prSet presAssocID="{C0BC77DB-0F3A-4661-A279-F6E2C2075211}" presName="horz1" presStyleCnt="0"/>
      <dgm:spPr/>
    </dgm:pt>
    <dgm:pt modelId="{20D77294-B300-4EF5-94E6-57C1536527BD}" type="pres">
      <dgm:prSet presAssocID="{C0BC77DB-0F3A-4661-A279-F6E2C2075211}" presName="tx1" presStyleLbl="revTx" presStyleIdx="4" presStyleCnt="6"/>
      <dgm:spPr/>
    </dgm:pt>
    <dgm:pt modelId="{E2F50D19-9AEA-4A42-A231-267B2F437808}" type="pres">
      <dgm:prSet presAssocID="{C0BC77DB-0F3A-4661-A279-F6E2C2075211}" presName="vert1" presStyleCnt="0"/>
      <dgm:spPr/>
    </dgm:pt>
    <dgm:pt modelId="{53C1E0E1-F00C-4016-A074-BDB0A10D5C92}" type="pres">
      <dgm:prSet presAssocID="{58306A67-6E8D-4277-B698-6D43E000550D}" presName="thickLine" presStyleLbl="alignNode1" presStyleIdx="5" presStyleCnt="6"/>
      <dgm:spPr/>
    </dgm:pt>
    <dgm:pt modelId="{390EB38C-9702-4DC1-A7D7-BFB30FE2A2C0}" type="pres">
      <dgm:prSet presAssocID="{58306A67-6E8D-4277-B698-6D43E000550D}" presName="horz1" presStyleCnt="0"/>
      <dgm:spPr/>
    </dgm:pt>
    <dgm:pt modelId="{AB043635-3DF7-4AE8-872D-4B37A045E076}" type="pres">
      <dgm:prSet presAssocID="{58306A67-6E8D-4277-B698-6D43E000550D}" presName="tx1" presStyleLbl="revTx" presStyleIdx="5" presStyleCnt="6"/>
      <dgm:spPr/>
    </dgm:pt>
    <dgm:pt modelId="{0207D863-5845-4374-A728-BA64C8572445}" type="pres">
      <dgm:prSet presAssocID="{58306A67-6E8D-4277-B698-6D43E000550D}" presName="vert1" presStyleCnt="0"/>
      <dgm:spPr/>
    </dgm:pt>
  </dgm:ptLst>
  <dgm:cxnLst>
    <dgm:cxn modelId="{65DD2D00-CFA1-4A77-8AC1-73B3F5F4C6B2}" type="presOf" srcId="{F9A437FC-B336-4634-8813-A55DF812D220}" destId="{2366DCBC-3DA3-4725-8290-0F411CF3C9E8}" srcOrd="0" destOrd="0" presId="urn:microsoft.com/office/officeart/2008/layout/LinedList"/>
    <dgm:cxn modelId="{40956711-4910-4711-BFD2-A5A37F3EE0EB}" type="presOf" srcId="{58306A67-6E8D-4277-B698-6D43E000550D}" destId="{AB043635-3DF7-4AE8-872D-4B37A045E076}" srcOrd="0" destOrd="0" presId="urn:microsoft.com/office/officeart/2008/layout/LinedList"/>
    <dgm:cxn modelId="{1409B211-A71C-46A3-BA00-2B3084631CF9}" type="presOf" srcId="{2DA061B5-5E85-4837-842B-D5641D959396}" destId="{60DFDBC2-4E2E-4C2E-8CD1-2775B875F021}" srcOrd="0" destOrd="0" presId="urn:microsoft.com/office/officeart/2008/layout/LinedList"/>
    <dgm:cxn modelId="{85320563-D420-4B3A-9A8B-113613E3BF6C}" srcId="{B486AF73-3466-40D5-9C6D-A5B4821A668A}" destId="{C0BC77DB-0F3A-4661-A279-F6E2C2075211}" srcOrd="4" destOrd="0" parTransId="{E98FE05A-6E65-4CD0-94ED-2866D3323669}" sibTransId="{4678F2B2-778C-4AFF-8478-8519DC35B1B9}"/>
    <dgm:cxn modelId="{6F071445-7DC9-4C0D-8852-03B955B057C6}" type="presOf" srcId="{B486AF73-3466-40D5-9C6D-A5B4821A668A}" destId="{36920355-C766-4CAF-B2B8-BD13B30B2B3E}" srcOrd="0" destOrd="0" presId="urn:microsoft.com/office/officeart/2008/layout/LinedList"/>
    <dgm:cxn modelId="{B629EF67-62A2-49B9-B846-4CE1F9D7D9D3}" srcId="{B486AF73-3466-40D5-9C6D-A5B4821A668A}" destId="{F9A437FC-B336-4634-8813-A55DF812D220}" srcOrd="3" destOrd="0" parTransId="{EA3823CE-558D-48E1-819E-D02BA6CEEE82}" sibTransId="{34E9EDA6-B595-4D8B-8CD6-878BD70208F1}"/>
    <dgm:cxn modelId="{02D46D70-CA8F-4900-992E-E71DE838681F}" srcId="{B486AF73-3466-40D5-9C6D-A5B4821A668A}" destId="{58306A67-6E8D-4277-B698-6D43E000550D}" srcOrd="5" destOrd="0" parTransId="{2BECB3E3-B896-40FB-B4A4-BBE1FD55A908}" sibTransId="{936D7E15-E5BB-44C3-ADDB-4A61EF6CF89E}"/>
    <dgm:cxn modelId="{E9F8C276-BA60-43BF-901C-F9C5FA35F5EF}" srcId="{B486AF73-3466-40D5-9C6D-A5B4821A668A}" destId="{2DA061B5-5E85-4837-842B-D5641D959396}" srcOrd="1" destOrd="0" parTransId="{D7DD4192-DAE3-4080-BD96-A8BE85CB0B5C}" sibTransId="{8686A19E-F0E9-4903-988D-1280E5F41AF3}"/>
    <dgm:cxn modelId="{5A6BD3A4-0D44-4408-B1B6-029B24063D4E}" type="presOf" srcId="{56D8670E-BE29-4433-88EB-93915E74328C}" destId="{C33C4520-1E09-464D-8C41-B359577F81F9}" srcOrd="0" destOrd="0" presId="urn:microsoft.com/office/officeart/2008/layout/LinedList"/>
    <dgm:cxn modelId="{CC521AB7-362F-40E6-AC13-E5368813E9FB}" srcId="{B486AF73-3466-40D5-9C6D-A5B4821A668A}" destId="{29F36144-FAE6-4475-9A4B-971E8D5A86F2}" srcOrd="0" destOrd="0" parTransId="{93812E79-FCE7-4955-B492-B192C0C7B57A}" sibTransId="{CB7481BE-504F-4F28-982D-82B7C74C2FC2}"/>
    <dgm:cxn modelId="{8C9968D2-5707-4EC2-AB22-9D6F9ADC68AD}" type="presOf" srcId="{C0BC77DB-0F3A-4661-A279-F6E2C2075211}" destId="{20D77294-B300-4EF5-94E6-57C1536527BD}" srcOrd="0" destOrd="0" presId="urn:microsoft.com/office/officeart/2008/layout/LinedList"/>
    <dgm:cxn modelId="{89FD2ADD-4E74-4A54-ADE4-FE307CB67206}" srcId="{B486AF73-3466-40D5-9C6D-A5B4821A668A}" destId="{56D8670E-BE29-4433-88EB-93915E74328C}" srcOrd="2" destOrd="0" parTransId="{97B15E06-3BAC-476B-97A9-77A0C58E9297}" sibTransId="{46426FB3-5456-41C2-96E1-AB04E2E43194}"/>
    <dgm:cxn modelId="{04A61DE5-F2DA-4536-B482-FB437191E63F}" type="presOf" srcId="{29F36144-FAE6-4475-9A4B-971E8D5A86F2}" destId="{0DCC2686-5FE2-4CF0-B44B-2B15D9995C16}" srcOrd="0" destOrd="0" presId="urn:microsoft.com/office/officeart/2008/layout/LinedList"/>
    <dgm:cxn modelId="{10063010-EA16-49A0-AB0D-7172B9ADC3B4}" type="presParOf" srcId="{36920355-C766-4CAF-B2B8-BD13B30B2B3E}" destId="{34DDEC44-EAAB-42CE-8B38-8917263B9095}" srcOrd="0" destOrd="0" presId="urn:microsoft.com/office/officeart/2008/layout/LinedList"/>
    <dgm:cxn modelId="{9246AD63-E937-4226-8B3F-422E0F92FBF9}" type="presParOf" srcId="{36920355-C766-4CAF-B2B8-BD13B30B2B3E}" destId="{704E1CA2-7E3A-420E-BF6B-F76117750CCF}" srcOrd="1" destOrd="0" presId="urn:microsoft.com/office/officeart/2008/layout/LinedList"/>
    <dgm:cxn modelId="{0C69010F-1DF3-45E6-9750-C1F5F669BE82}" type="presParOf" srcId="{704E1CA2-7E3A-420E-BF6B-F76117750CCF}" destId="{0DCC2686-5FE2-4CF0-B44B-2B15D9995C16}" srcOrd="0" destOrd="0" presId="urn:microsoft.com/office/officeart/2008/layout/LinedList"/>
    <dgm:cxn modelId="{14BC8094-358E-4F4D-B6B1-0BF925D3FD40}" type="presParOf" srcId="{704E1CA2-7E3A-420E-BF6B-F76117750CCF}" destId="{954FBC9F-D490-489F-BB45-69072A60EEDE}" srcOrd="1" destOrd="0" presId="urn:microsoft.com/office/officeart/2008/layout/LinedList"/>
    <dgm:cxn modelId="{32764D24-8469-465B-8AED-2E93DBABBF73}" type="presParOf" srcId="{36920355-C766-4CAF-B2B8-BD13B30B2B3E}" destId="{FF5BF049-3177-4AE7-9CCF-215D85878E95}" srcOrd="2" destOrd="0" presId="urn:microsoft.com/office/officeart/2008/layout/LinedList"/>
    <dgm:cxn modelId="{62A27BD7-E403-4871-8838-7CF3A4F51C47}" type="presParOf" srcId="{36920355-C766-4CAF-B2B8-BD13B30B2B3E}" destId="{60E3281A-A5DC-41B6-B86D-37CF5C55797E}" srcOrd="3" destOrd="0" presId="urn:microsoft.com/office/officeart/2008/layout/LinedList"/>
    <dgm:cxn modelId="{679BDDA0-3405-4ED4-8C80-C12772551590}" type="presParOf" srcId="{60E3281A-A5DC-41B6-B86D-37CF5C55797E}" destId="{60DFDBC2-4E2E-4C2E-8CD1-2775B875F021}" srcOrd="0" destOrd="0" presId="urn:microsoft.com/office/officeart/2008/layout/LinedList"/>
    <dgm:cxn modelId="{5853567D-A79D-4DA8-BFF6-4A0DCFBCE3FC}" type="presParOf" srcId="{60E3281A-A5DC-41B6-B86D-37CF5C55797E}" destId="{0CE17BE4-3716-4709-82D6-69BF1F09AAA5}" srcOrd="1" destOrd="0" presId="urn:microsoft.com/office/officeart/2008/layout/LinedList"/>
    <dgm:cxn modelId="{77746C52-345A-469C-8B27-AD79249CBCB8}" type="presParOf" srcId="{36920355-C766-4CAF-B2B8-BD13B30B2B3E}" destId="{4C60784D-29F3-498A-9637-DBF61FDA2449}" srcOrd="4" destOrd="0" presId="urn:microsoft.com/office/officeart/2008/layout/LinedList"/>
    <dgm:cxn modelId="{66DA588E-C8F3-4EF7-B17D-6837159A9C3A}" type="presParOf" srcId="{36920355-C766-4CAF-B2B8-BD13B30B2B3E}" destId="{60F07F24-A38D-4B69-9E5E-877C6F5675DB}" srcOrd="5" destOrd="0" presId="urn:microsoft.com/office/officeart/2008/layout/LinedList"/>
    <dgm:cxn modelId="{085C2B1F-CFF2-43E4-800A-AB0C2BC16056}" type="presParOf" srcId="{60F07F24-A38D-4B69-9E5E-877C6F5675DB}" destId="{C33C4520-1E09-464D-8C41-B359577F81F9}" srcOrd="0" destOrd="0" presId="urn:microsoft.com/office/officeart/2008/layout/LinedList"/>
    <dgm:cxn modelId="{96390A68-65F2-408F-BCC6-FA2B50432544}" type="presParOf" srcId="{60F07F24-A38D-4B69-9E5E-877C6F5675DB}" destId="{CC585358-80B4-41CC-A6D2-0DE020D6054A}" srcOrd="1" destOrd="0" presId="urn:microsoft.com/office/officeart/2008/layout/LinedList"/>
    <dgm:cxn modelId="{3B22B4D9-7063-4D74-8338-5B32E060F478}" type="presParOf" srcId="{36920355-C766-4CAF-B2B8-BD13B30B2B3E}" destId="{D342526E-B719-4D11-AA2B-CFFCEEA956A2}" srcOrd="6" destOrd="0" presId="urn:microsoft.com/office/officeart/2008/layout/LinedList"/>
    <dgm:cxn modelId="{C7C72BEC-1BE1-4300-87F8-0FA102EE234B}" type="presParOf" srcId="{36920355-C766-4CAF-B2B8-BD13B30B2B3E}" destId="{2CBAEA03-CA61-430B-AB3A-397C77B2826B}" srcOrd="7" destOrd="0" presId="urn:microsoft.com/office/officeart/2008/layout/LinedList"/>
    <dgm:cxn modelId="{A89D20E1-7AC5-4EC4-AA92-7E87C6BD34F0}" type="presParOf" srcId="{2CBAEA03-CA61-430B-AB3A-397C77B2826B}" destId="{2366DCBC-3DA3-4725-8290-0F411CF3C9E8}" srcOrd="0" destOrd="0" presId="urn:microsoft.com/office/officeart/2008/layout/LinedList"/>
    <dgm:cxn modelId="{CE42144C-AAB9-40E3-A459-4620CDC172AB}" type="presParOf" srcId="{2CBAEA03-CA61-430B-AB3A-397C77B2826B}" destId="{75B97870-3419-40FF-94BD-B5D109CBB818}" srcOrd="1" destOrd="0" presId="urn:microsoft.com/office/officeart/2008/layout/LinedList"/>
    <dgm:cxn modelId="{44C081E1-A765-43C0-921A-3416CF8591FD}" type="presParOf" srcId="{36920355-C766-4CAF-B2B8-BD13B30B2B3E}" destId="{ECDE6A73-8E6F-497B-95C8-4890FCF5D289}" srcOrd="8" destOrd="0" presId="urn:microsoft.com/office/officeart/2008/layout/LinedList"/>
    <dgm:cxn modelId="{CCEA3234-84D5-4675-9839-83DB23F3060F}" type="presParOf" srcId="{36920355-C766-4CAF-B2B8-BD13B30B2B3E}" destId="{9A9EB47A-82A8-426E-AAED-CFD7328C13A0}" srcOrd="9" destOrd="0" presId="urn:microsoft.com/office/officeart/2008/layout/LinedList"/>
    <dgm:cxn modelId="{6263B707-5C66-4D45-9706-69259B43C970}" type="presParOf" srcId="{9A9EB47A-82A8-426E-AAED-CFD7328C13A0}" destId="{20D77294-B300-4EF5-94E6-57C1536527BD}" srcOrd="0" destOrd="0" presId="urn:microsoft.com/office/officeart/2008/layout/LinedList"/>
    <dgm:cxn modelId="{6064299A-0FD3-4A7C-87DE-82F7EE8DBBB6}" type="presParOf" srcId="{9A9EB47A-82A8-426E-AAED-CFD7328C13A0}" destId="{E2F50D19-9AEA-4A42-A231-267B2F437808}" srcOrd="1" destOrd="0" presId="urn:microsoft.com/office/officeart/2008/layout/LinedList"/>
    <dgm:cxn modelId="{3A3A2E12-749F-4DBD-8716-F8A6A2EE9683}" type="presParOf" srcId="{36920355-C766-4CAF-B2B8-BD13B30B2B3E}" destId="{53C1E0E1-F00C-4016-A074-BDB0A10D5C92}" srcOrd="10" destOrd="0" presId="urn:microsoft.com/office/officeart/2008/layout/LinedList"/>
    <dgm:cxn modelId="{3A4787D8-54CF-4702-A29F-576887BB1734}" type="presParOf" srcId="{36920355-C766-4CAF-B2B8-BD13B30B2B3E}" destId="{390EB38C-9702-4DC1-A7D7-BFB30FE2A2C0}" srcOrd="11" destOrd="0" presId="urn:microsoft.com/office/officeart/2008/layout/LinedList"/>
    <dgm:cxn modelId="{69EB7AE6-DE2E-4F48-9972-04D086CA9667}" type="presParOf" srcId="{390EB38C-9702-4DC1-A7D7-BFB30FE2A2C0}" destId="{AB043635-3DF7-4AE8-872D-4B37A045E076}" srcOrd="0" destOrd="0" presId="urn:microsoft.com/office/officeart/2008/layout/LinedList"/>
    <dgm:cxn modelId="{35359357-F8FF-43B5-B686-7ABF0A14538D}" type="presParOf" srcId="{390EB38C-9702-4DC1-A7D7-BFB30FE2A2C0}" destId="{0207D863-5845-4374-A728-BA64C857244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CFC88D-DB9C-4EFD-8A11-84DD8E8666B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323E82-8C68-4343-8C93-1CE9C0ECE072}">
      <dgm:prSet/>
      <dgm:spPr/>
      <dgm:t>
        <a:bodyPr/>
        <a:lstStyle/>
        <a:p>
          <a:r>
            <a:rPr lang="en-IN"/>
            <a:t>• Compares CPU tag with stored tag.</a:t>
          </a:r>
          <a:endParaRPr lang="en-US"/>
        </a:p>
      </dgm:t>
    </dgm:pt>
    <dgm:pt modelId="{5C2A79D2-32FE-4671-BF1B-612DAA1C0594}" type="parTrans" cxnId="{16A147A3-1173-45D2-9811-CA3E2C2DEA64}">
      <dgm:prSet/>
      <dgm:spPr/>
      <dgm:t>
        <a:bodyPr/>
        <a:lstStyle/>
        <a:p>
          <a:endParaRPr lang="en-US"/>
        </a:p>
      </dgm:t>
    </dgm:pt>
    <dgm:pt modelId="{994CE545-08A7-46AE-BC1B-966DECD9D389}" type="sibTrans" cxnId="{16A147A3-1173-45D2-9811-CA3E2C2DEA64}">
      <dgm:prSet/>
      <dgm:spPr/>
      <dgm:t>
        <a:bodyPr/>
        <a:lstStyle/>
        <a:p>
          <a:endParaRPr lang="en-US"/>
        </a:p>
      </dgm:t>
    </dgm:pt>
    <dgm:pt modelId="{B5387F95-A3BC-4056-A437-01FA8096F49E}">
      <dgm:prSet/>
      <dgm:spPr/>
      <dgm:t>
        <a:bodyPr/>
        <a:lstStyle/>
        <a:p>
          <a:r>
            <a:rPr lang="en-IN"/>
            <a:t>• Valid bit checked before comparison.</a:t>
          </a:r>
          <a:endParaRPr lang="en-US"/>
        </a:p>
      </dgm:t>
    </dgm:pt>
    <dgm:pt modelId="{53EC58CC-9C90-4126-A271-64FBC4FEBD51}" type="parTrans" cxnId="{B0329D33-6F74-40E8-A352-8F00B9855F0D}">
      <dgm:prSet/>
      <dgm:spPr/>
      <dgm:t>
        <a:bodyPr/>
        <a:lstStyle/>
        <a:p>
          <a:endParaRPr lang="en-US"/>
        </a:p>
      </dgm:t>
    </dgm:pt>
    <dgm:pt modelId="{AECE242A-4BC8-4984-98C2-12B5AAD2782C}" type="sibTrans" cxnId="{B0329D33-6F74-40E8-A352-8F00B9855F0D}">
      <dgm:prSet/>
      <dgm:spPr/>
      <dgm:t>
        <a:bodyPr/>
        <a:lstStyle/>
        <a:p>
          <a:endParaRPr lang="en-US"/>
        </a:p>
      </dgm:t>
    </dgm:pt>
    <dgm:pt modelId="{19C24993-D60E-4D86-AB33-8CE23D3BE897}">
      <dgm:prSet/>
      <dgm:spPr/>
      <dgm:t>
        <a:bodyPr/>
        <a:lstStyle/>
        <a:p>
          <a:r>
            <a:rPr lang="en-IN"/>
            <a:t>• Matching tags generate cache hit.</a:t>
          </a:r>
          <a:endParaRPr lang="en-US"/>
        </a:p>
      </dgm:t>
    </dgm:pt>
    <dgm:pt modelId="{91C68436-92B3-4BB2-90DB-C04743079820}" type="parTrans" cxnId="{D8F49A9B-2F72-459F-8D27-7ED794C28932}">
      <dgm:prSet/>
      <dgm:spPr/>
      <dgm:t>
        <a:bodyPr/>
        <a:lstStyle/>
        <a:p>
          <a:endParaRPr lang="en-US"/>
        </a:p>
      </dgm:t>
    </dgm:pt>
    <dgm:pt modelId="{F28BA213-1EDF-4EC0-A19D-6AC5CD9D950B}" type="sibTrans" cxnId="{D8F49A9B-2F72-459F-8D27-7ED794C28932}">
      <dgm:prSet/>
      <dgm:spPr/>
      <dgm:t>
        <a:bodyPr/>
        <a:lstStyle/>
        <a:p>
          <a:endParaRPr lang="en-US"/>
        </a:p>
      </dgm:t>
    </dgm:pt>
    <dgm:pt modelId="{C734773A-577C-4A9B-86E4-65E55816C523}">
      <dgm:prSet/>
      <dgm:spPr/>
      <dgm:t>
        <a:bodyPr/>
        <a:lstStyle/>
        <a:p>
          <a:r>
            <a:rPr lang="en-IN"/>
            <a:t>• Mismatched tags generate cache miss.</a:t>
          </a:r>
          <a:endParaRPr lang="en-US"/>
        </a:p>
      </dgm:t>
    </dgm:pt>
    <dgm:pt modelId="{BFE9531C-E984-41EE-9D82-CC5B7B229809}" type="parTrans" cxnId="{48890860-DA9E-447B-AB56-B67BA45715BC}">
      <dgm:prSet/>
      <dgm:spPr/>
      <dgm:t>
        <a:bodyPr/>
        <a:lstStyle/>
        <a:p>
          <a:endParaRPr lang="en-US"/>
        </a:p>
      </dgm:t>
    </dgm:pt>
    <dgm:pt modelId="{4E235F05-DBE2-4357-8A03-9C7DB6ACB361}" type="sibTrans" cxnId="{48890860-DA9E-447B-AB56-B67BA45715BC}">
      <dgm:prSet/>
      <dgm:spPr/>
      <dgm:t>
        <a:bodyPr/>
        <a:lstStyle/>
        <a:p>
          <a:endParaRPr lang="en-US"/>
        </a:p>
      </dgm:t>
    </dgm:pt>
    <dgm:pt modelId="{CD186E02-FDCE-4487-B1D9-37E110B8A030}">
      <dgm:prSet/>
      <dgm:spPr/>
      <dgm:t>
        <a:bodyPr/>
        <a:lstStyle/>
        <a:p>
          <a:r>
            <a:rPr lang="en-IN"/>
            <a:t>• Hit signal enables cache data output.</a:t>
          </a:r>
          <a:endParaRPr lang="en-US"/>
        </a:p>
      </dgm:t>
    </dgm:pt>
    <dgm:pt modelId="{0A1A930D-9802-4935-9AFB-BEAE7941D16E}" type="parTrans" cxnId="{E1E03A1F-50BD-491E-B4F6-0414F347252A}">
      <dgm:prSet/>
      <dgm:spPr/>
      <dgm:t>
        <a:bodyPr/>
        <a:lstStyle/>
        <a:p>
          <a:endParaRPr lang="en-US"/>
        </a:p>
      </dgm:t>
    </dgm:pt>
    <dgm:pt modelId="{52CA1120-313C-4FD2-A15C-3284A4393208}" type="sibTrans" cxnId="{E1E03A1F-50BD-491E-B4F6-0414F347252A}">
      <dgm:prSet/>
      <dgm:spPr/>
      <dgm:t>
        <a:bodyPr/>
        <a:lstStyle/>
        <a:p>
          <a:endParaRPr lang="en-US"/>
        </a:p>
      </dgm:t>
    </dgm:pt>
    <dgm:pt modelId="{79DD9F95-64C1-4708-A896-EF26C746E30D}">
      <dgm:prSet/>
      <dgm:spPr/>
      <dgm:t>
        <a:bodyPr/>
        <a:lstStyle/>
        <a:p>
          <a:r>
            <a:rPr lang="en-IN"/>
            <a:t>• Core block for cache decision making.</a:t>
          </a:r>
          <a:endParaRPr lang="en-US"/>
        </a:p>
      </dgm:t>
    </dgm:pt>
    <dgm:pt modelId="{30BBAA85-15A9-4EF5-B139-9FDE75F61591}" type="parTrans" cxnId="{78189564-188C-4FC6-8738-99EEF65A469C}">
      <dgm:prSet/>
      <dgm:spPr/>
      <dgm:t>
        <a:bodyPr/>
        <a:lstStyle/>
        <a:p>
          <a:endParaRPr lang="en-US"/>
        </a:p>
      </dgm:t>
    </dgm:pt>
    <dgm:pt modelId="{726B207A-65C8-43AB-BA43-F26EDF1CCC38}" type="sibTrans" cxnId="{78189564-188C-4FC6-8738-99EEF65A469C}">
      <dgm:prSet/>
      <dgm:spPr/>
      <dgm:t>
        <a:bodyPr/>
        <a:lstStyle/>
        <a:p>
          <a:endParaRPr lang="en-US"/>
        </a:p>
      </dgm:t>
    </dgm:pt>
    <dgm:pt modelId="{F90F7615-B1F6-4028-A89E-712EFD02A156}" type="pres">
      <dgm:prSet presAssocID="{D7CFC88D-DB9C-4EFD-8A11-84DD8E8666B7}" presName="vert0" presStyleCnt="0">
        <dgm:presLayoutVars>
          <dgm:dir/>
          <dgm:animOne val="branch"/>
          <dgm:animLvl val="lvl"/>
        </dgm:presLayoutVars>
      </dgm:prSet>
      <dgm:spPr/>
    </dgm:pt>
    <dgm:pt modelId="{20A5FCC6-B2A1-47F6-A5EB-475B33B61F0B}" type="pres">
      <dgm:prSet presAssocID="{52323E82-8C68-4343-8C93-1CE9C0ECE072}" presName="thickLine" presStyleLbl="alignNode1" presStyleIdx="0" presStyleCnt="6"/>
      <dgm:spPr/>
    </dgm:pt>
    <dgm:pt modelId="{CE6D096F-F92E-413D-8F29-91C6D18FECC5}" type="pres">
      <dgm:prSet presAssocID="{52323E82-8C68-4343-8C93-1CE9C0ECE072}" presName="horz1" presStyleCnt="0"/>
      <dgm:spPr/>
    </dgm:pt>
    <dgm:pt modelId="{820918D4-76F5-43BF-B79D-B7837D47BD10}" type="pres">
      <dgm:prSet presAssocID="{52323E82-8C68-4343-8C93-1CE9C0ECE072}" presName="tx1" presStyleLbl="revTx" presStyleIdx="0" presStyleCnt="6"/>
      <dgm:spPr/>
    </dgm:pt>
    <dgm:pt modelId="{51FC0189-87B2-4739-8665-B182A574E557}" type="pres">
      <dgm:prSet presAssocID="{52323E82-8C68-4343-8C93-1CE9C0ECE072}" presName="vert1" presStyleCnt="0"/>
      <dgm:spPr/>
    </dgm:pt>
    <dgm:pt modelId="{22792943-1D83-488D-A04E-DD504E34A3D4}" type="pres">
      <dgm:prSet presAssocID="{B5387F95-A3BC-4056-A437-01FA8096F49E}" presName="thickLine" presStyleLbl="alignNode1" presStyleIdx="1" presStyleCnt="6"/>
      <dgm:spPr/>
    </dgm:pt>
    <dgm:pt modelId="{6018C32D-EB3D-4D9E-9960-C30A82D0FC06}" type="pres">
      <dgm:prSet presAssocID="{B5387F95-A3BC-4056-A437-01FA8096F49E}" presName="horz1" presStyleCnt="0"/>
      <dgm:spPr/>
    </dgm:pt>
    <dgm:pt modelId="{452A00E8-A2B4-4C9B-93EC-D110C157B753}" type="pres">
      <dgm:prSet presAssocID="{B5387F95-A3BC-4056-A437-01FA8096F49E}" presName="tx1" presStyleLbl="revTx" presStyleIdx="1" presStyleCnt="6"/>
      <dgm:spPr/>
    </dgm:pt>
    <dgm:pt modelId="{DB435035-4868-4B0C-9EF6-7496D0DD7495}" type="pres">
      <dgm:prSet presAssocID="{B5387F95-A3BC-4056-A437-01FA8096F49E}" presName="vert1" presStyleCnt="0"/>
      <dgm:spPr/>
    </dgm:pt>
    <dgm:pt modelId="{895C7C62-EFDA-4D95-A460-9A6994F529F2}" type="pres">
      <dgm:prSet presAssocID="{19C24993-D60E-4D86-AB33-8CE23D3BE897}" presName="thickLine" presStyleLbl="alignNode1" presStyleIdx="2" presStyleCnt="6"/>
      <dgm:spPr/>
    </dgm:pt>
    <dgm:pt modelId="{B3F55B39-59E5-4373-AC43-F8CA0C2CCE80}" type="pres">
      <dgm:prSet presAssocID="{19C24993-D60E-4D86-AB33-8CE23D3BE897}" presName="horz1" presStyleCnt="0"/>
      <dgm:spPr/>
    </dgm:pt>
    <dgm:pt modelId="{61D6EE0A-797D-4E3D-A5C3-DA5C9312CEF8}" type="pres">
      <dgm:prSet presAssocID="{19C24993-D60E-4D86-AB33-8CE23D3BE897}" presName="tx1" presStyleLbl="revTx" presStyleIdx="2" presStyleCnt="6"/>
      <dgm:spPr/>
    </dgm:pt>
    <dgm:pt modelId="{EC9FF0A2-22FB-4F21-AE21-A419D7BD5BBF}" type="pres">
      <dgm:prSet presAssocID="{19C24993-D60E-4D86-AB33-8CE23D3BE897}" presName="vert1" presStyleCnt="0"/>
      <dgm:spPr/>
    </dgm:pt>
    <dgm:pt modelId="{4A1066D8-EA6C-4C19-A317-E9A57EB34F72}" type="pres">
      <dgm:prSet presAssocID="{C734773A-577C-4A9B-86E4-65E55816C523}" presName="thickLine" presStyleLbl="alignNode1" presStyleIdx="3" presStyleCnt="6"/>
      <dgm:spPr/>
    </dgm:pt>
    <dgm:pt modelId="{FA13693C-D930-41CD-A223-9D5D62D3D32B}" type="pres">
      <dgm:prSet presAssocID="{C734773A-577C-4A9B-86E4-65E55816C523}" presName="horz1" presStyleCnt="0"/>
      <dgm:spPr/>
    </dgm:pt>
    <dgm:pt modelId="{A60DE34A-C618-4488-9945-5D8D79D39632}" type="pres">
      <dgm:prSet presAssocID="{C734773A-577C-4A9B-86E4-65E55816C523}" presName="tx1" presStyleLbl="revTx" presStyleIdx="3" presStyleCnt="6"/>
      <dgm:spPr/>
    </dgm:pt>
    <dgm:pt modelId="{247AEC64-1B09-4B78-AADA-B9A4FA262994}" type="pres">
      <dgm:prSet presAssocID="{C734773A-577C-4A9B-86E4-65E55816C523}" presName="vert1" presStyleCnt="0"/>
      <dgm:spPr/>
    </dgm:pt>
    <dgm:pt modelId="{80236B88-590B-4216-B6C4-8E9E23894A5C}" type="pres">
      <dgm:prSet presAssocID="{CD186E02-FDCE-4487-B1D9-37E110B8A030}" presName="thickLine" presStyleLbl="alignNode1" presStyleIdx="4" presStyleCnt="6"/>
      <dgm:spPr/>
    </dgm:pt>
    <dgm:pt modelId="{FF47A67F-3D0A-4C2A-B51B-CDD062DCE269}" type="pres">
      <dgm:prSet presAssocID="{CD186E02-FDCE-4487-B1D9-37E110B8A030}" presName="horz1" presStyleCnt="0"/>
      <dgm:spPr/>
    </dgm:pt>
    <dgm:pt modelId="{0025E170-9128-4FD0-BEDD-0036697C33E2}" type="pres">
      <dgm:prSet presAssocID="{CD186E02-FDCE-4487-B1D9-37E110B8A030}" presName="tx1" presStyleLbl="revTx" presStyleIdx="4" presStyleCnt="6"/>
      <dgm:spPr/>
    </dgm:pt>
    <dgm:pt modelId="{CB37CF02-8AD8-40C5-B202-20B670B894E7}" type="pres">
      <dgm:prSet presAssocID="{CD186E02-FDCE-4487-B1D9-37E110B8A030}" presName="vert1" presStyleCnt="0"/>
      <dgm:spPr/>
    </dgm:pt>
    <dgm:pt modelId="{6E9575FC-3C3B-404B-8984-ABC25EDA229B}" type="pres">
      <dgm:prSet presAssocID="{79DD9F95-64C1-4708-A896-EF26C746E30D}" presName="thickLine" presStyleLbl="alignNode1" presStyleIdx="5" presStyleCnt="6"/>
      <dgm:spPr/>
    </dgm:pt>
    <dgm:pt modelId="{4469084C-A3C4-45FF-BD87-EEC76C3A9010}" type="pres">
      <dgm:prSet presAssocID="{79DD9F95-64C1-4708-A896-EF26C746E30D}" presName="horz1" presStyleCnt="0"/>
      <dgm:spPr/>
    </dgm:pt>
    <dgm:pt modelId="{D4FADC6E-8513-464C-B0DF-7B112AFDE0E5}" type="pres">
      <dgm:prSet presAssocID="{79DD9F95-64C1-4708-A896-EF26C746E30D}" presName="tx1" presStyleLbl="revTx" presStyleIdx="5" presStyleCnt="6"/>
      <dgm:spPr/>
    </dgm:pt>
    <dgm:pt modelId="{FA05F86A-302C-4AD0-B1EF-B1892A9EE602}" type="pres">
      <dgm:prSet presAssocID="{79DD9F95-64C1-4708-A896-EF26C746E30D}" presName="vert1" presStyleCnt="0"/>
      <dgm:spPr/>
    </dgm:pt>
  </dgm:ptLst>
  <dgm:cxnLst>
    <dgm:cxn modelId="{E1E03A1F-50BD-491E-B4F6-0414F347252A}" srcId="{D7CFC88D-DB9C-4EFD-8A11-84DD8E8666B7}" destId="{CD186E02-FDCE-4487-B1D9-37E110B8A030}" srcOrd="4" destOrd="0" parTransId="{0A1A930D-9802-4935-9AFB-BEAE7941D16E}" sibTransId="{52CA1120-313C-4FD2-A15C-3284A4393208}"/>
    <dgm:cxn modelId="{B0329D33-6F74-40E8-A352-8F00B9855F0D}" srcId="{D7CFC88D-DB9C-4EFD-8A11-84DD8E8666B7}" destId="{B5387F95-A3BC-4056-A437-01FA8096F49E}" srcOrd="1" destOrd="0" parTransId="{53EC58CC-9C90-4126-A271-64FBC4FEBD51}" sibTransId="{AECE242A-4BC8-4984-98C2-12B5AAD2782C}"/>
    <dgm:cxn modelId="{FE3FFC36-7A3C-4819-86C4-2B1ABE5F45AA}" type="presOf" srcId="{CD186E02-FDCE-4487-B1D9-37E110B8A030}" destId="{0025E170-9128-4FD0-BEDD-0036697C33E2}" srcOrd="0" destOrd="0" presId="urn:microsoft.com/office/officeart/2008/layout/LinedList"/>
    <dgm:cxn modelId="{48890860-DA9E-447B-AB56-B67BA45715BC}" srcId="{D7CFC88D-DB9C-4EFD-8A11-84DD8E8666B7}" destId="{C734773A-577C-4A9B-86E4-65E55816C523}" srcOrd="3" destOrd="0" parTransId="{BFE9531C-E984-41EE-9D82-CC5B7B229809}" sibTransId="{4E235F05-DBE2-4357-8A03-9C7DB6ACB361}"/>
    <dgm:cxn modelId="{78189564-188C-4FC6-8738-99EEF65A469C}" srcId="{D7CFC88D-DB9C-4EFD-8A11-84DD8E8666B7}" destId="{79DD9F95-64C1-4708-A896-EF26C746E30D}" srcOrd="5" destOrd="0" parTransId="{30BBAA85-15A9-4EF5-B139-9FDE75F61591}" sibTransId="{726B207A-65C8-43AB-BA43-F26EDF1CCC38}"/>
    <dgm:cxn modelId="{309B7F50-9AE5-42C4-88D7-2058B024DB38}" type="presOf" srcId="{B5387F95-A3BC-4056-A437-01FA8096F49E}" destId="{452A00E8-A2B4-4C9B-93EC-D110C157B753}" srcOrd="0" destOrd="0" presId="urn:microsoft.com/office/officeart/2008/layout/LinedList"/>
    <dgm:cxn modelId="{F1596756-BF45-4944-B04F-1A3942CDD450}" type="presOf" srcId="{D7CFC88D-DB9C-4EFD-8A11-84DD8E8666B7}" destId="{F90F7615-B1F6-4028-A89E-712EFD02A156}" srcOrd="0" destOrd="0" presId="urn:microsoft.com/office/officeart/2008/layout/LinedList"/>
    <dgm:cxn modelId="{D8F49A9B-2F72-459F-8D27-7ED794C28932}" srcId="{D7CFC88D-DB9C-4EFD-8A11-84DD8E8666B7}" destId="{19C24993-D60E-4D86-AB33-8CE23D3BE897}" srcOrd="2" destOrd="0" parTransId="{91C68436-92B3-4BB2-90DB-C04743079820}" sibTransId="{F28BA213-1EDF-4EC0-A19D-6AC5CD9D950B}"/>
    <dgm:cxn modelId="{481A289C-CED0-489A-A387-78B236143F8D}" type="presOf" srcId="{C734773A-577C-4A9B-86E4-65E55816C523}" destId="{A60DE34A-C618-4488-9945-5D8D79D39632}" srcOrd="0" destOrd="0" presId="urn:microsoft.com/office/officeart/2008/layout/LinedList"/>
    <dgm:cxn modelId="{16A147A3-1173-45D2-9811-CA3E2C2DEA64}" srcId="{D7CFC88D-DB9C-4EFD-8A11-84DD8E8666B7}" destId="{52323E82-8C68-4343-8C93-1CE9C0ECE072}" srcOrd="0" destOrd="0" parTransId="{5C2A79D2-32FE-4671-BF1B-612DAA1C0594}" sibTransId="{994CE545-08A7-46AE-BC1B-966DECD9D389}"/>
    <dgm:cxn modelId="{B1181ABB-7147-4652-8D6A-50B87A29EF28}" type="presOf" srcId="{52323E82-8C68-4343-8C93-1CE9C0ECE072}" destId="{820918D4-76F5-43BF-B79D-B7837D47BD10}" srcOrd="0" destOrd="0" presId="urn:microsoft.com/office/officeart/2008/layout/LinedList"/>
    <dgm:cxn modelId="{9F7420C8-8703-4B12-95B7-32FDB81512FC}" type="presOf" srcId="{79DD9F95-64C1-4708-A896-EF26C746E30D}" destId="{D4FADC6E-8513-464C-B0DF-7B112AFDE0E5}" srcOrd="0" destOrd="0" presId="urn:microsoft.com/office/officeart/2008/layout/LinedList"/>
    <dgm:cxn modelId="{C81E4AE9-998A-46EC-9693-661420D27313}" type="presOf" srcId="{19C24993-D60E-4D86-AB33-8CE23D3BE897}" destId="{61D6EE0A-797D-4E3D-A5C3-DA5C9312CEF8}" srcOrd="0" destOrd="0" presId="urn:microsoft.com/office/officeart/2008/layout/LinedList"/>
    <dgm:cxn modelId="{901A1CA6-C1A4-4C41-9479-813DD0E31115}" type="presParOf" srcId="{F90F7615-B1F6-4028-A89E-712EFD02A156}" destId="{20A5FCC6-B2A1-47F6-A5EB-475B33B61F0B}" srcOrd="0" destOrd="0" presId="urn:microsoft.com/office/officeart/2008/layout/LinedList"/>
    <dgm:cxn modelId="{93D66F62-CE21-4484-87E8-DC14EA03F828}" type="presParOf" srcId="{F90F7615-B1F6-4028-A89E-712EFD02A156}" destId="{CE6D096F-F92E-413D-8F29-91C6D18FECC5}" srcOrd="1" destOrd="0" presId="urn:microsoft.com/office/officeart/2008/layout/LinedList"/>
    <dgm:cxn modelId="{1DED6B41-9E63-4827-9CFB-222B64C0173F}" type="presParOf" srcId="{CE6D096F-F92E-413D-8F29-91C6D18FECC5}" destId="{820918D4-76F5-43BF-B79D-B7837D47BD10}" srcOrd="0" destOrd="0" presId="urn:microsoft.com/office/officeart/2008/layout/LinedList"/>
    <dgm:cxn modelId="{4EDBB728-69D9-4D8D-B4CA-38AF6EC4CB92}" type="presParOf" srcId="{CE6D096F-F92E-413D-8F29-91C6D18FECC5}" destId="{51FC0189-87B2-4739-8665-B182A574E557}" srcOrd="1" destOrd="0" presId="urn:microsoft.com/office/officeart/2008/layout/LinedList"/>
    <dgm:cxn modelId="{21E75AFB-3C12-4C40-86C7-0B75FEF47297}" type="presParOf" srcId="{F90F7615-B1F6-4028-A89E-712EFD02A156}" destId="{22792943-1D83-488D-A04E-DD504E34A3D4}" srcOrd="2" destOrd="0" presId="urn:microsoft.com/office/officeart/2008/layout/LinedList"/>
    <dgm:cxn modelId="{043D2F7F-1D6B-48B9-9081-71E3CB4A5ABF}" type="presParOf" srcId="{F90F7615-B1F6-4028-A89E-712EFD02A156}" destId="{6018C32D-EB3D-4D9E-9960-C30A82D0FC06}" srcOrd="3" destOrd="0" presId="urn:microsoft.com/office/officeart/2008/layout/LinedList"/>
    <dgm:cxn modelId="{6AD78FBE-DC64-4BC1-A17F-6A3861226697}" type="presParOf" srcId="{6018C32D-EB3D-4D9E-9960-C30A82D0FC06}" destId="{452A00E8-A2B4-4C9B-93EC-D110C157B753}" srcOrd="0" destOrd="0" presId="urn:microsoft.com/office/officeart/2008/layout/LinedList"/>
    <dgm:cxn modelId="{B92B43BB-8728-41A3-A3D1-A0E858B4AC41}" type="presParOf" srcId="{6018C32D-EB3D-4D9E-9960-C30A82D0FC06}" destId="{DB435035-4868-4B0C-9EF6-7496D0DD7495}" srcOrd="1" destOrd="0" presId="urn:microsoft.com/office/officeart/2008/layout/LinedList"/>
    <dgm:cxn modelId="{0C0298B0-0DCC-40CB-BAA0-63124FD0F180}" type="presParOf" srcId="{F90F7615-B1F6-4028-A89E-712EFD02A156}" destId="{895C7C62-EFDA-4D95-A460-9A6994F529F2}" srcOrd="4" destOrd="0" presId="urn:microsoft.com/office/officeart/2008/layout/LinedList"/>
    <dgm:cxn modelId="{A88034C1-923F-4934-8B5A-3579061FB570}" type="presParOf" srcId="{F90F7615-B1F6-4028-A89E-712EFD02A156}" destId="{B3F55B39-59E5-4373-AC43-F8CA0C2CCE80}" srcOrd="5" destOrd="0" presId="urn:microsoft.com/office/officeart/2008/layout/LinedList"/>
    <dgm:cxn modelId="{3F84C9E3-F140-4FB1-A048-EFE2A436F639}" type="presParOf" srcId="{B3F55B39-59E5-4373-AC43-F8CA0C2CCE80}" destId="{61D6EE0A-797D-4E3D-A5C3-DA5C9312CEF8}" srcOrd="0" destOrd="0" presId="urn:microsoft.com/office/officeart/2008/layout/LinedList"/>
    <dgm:cxn modelId="{8DF14758-3315-406B-BFFD-E72B5359E4AE}" type="presParOf" srcId="{B3F55B39-59E5-4373-AC43-F8CA0C2CCE80}" destId="{EC9FF0A2-22FB-4F21-AE21-A419D7BD5BBF}" srcOrd="1" destOrd="0" presId="urn:microsoft.com/office/officeart/2008/layout/LinedList"/>
    <dgm:cxn modelId="{B303DFD7-2E4A-4C67-9757-143CABE8AA2E}" type="presParOf" srcId="{F90F7615-B1F6-4028-A89E-712EFD02A156}" destId="{4A1066D8-EA6C-4C19-A317-E9A57EB34F72}" srcOrd="6" destOrd="0" presId="urn:microsoft.com/office/officeart/2008/layout/LinedList"/>
    <dgm:cxn modelId="{3A87B0FB-28E2-498D-9D38-E6752360C9F2}" type="presParOf" srcId="{F90F7615-B1F6-4028-A89E-712EFD02A156}" destId="{FA13693C-D930-41CD-A223-9D5D62D3D32B}" srcOrd="7" destOrd="0" presId="urn:microsoft.com/office/officeart/2008/layout/LinedList"/>
    <dgm:cxn modelId="{9466349E-479E-4FCC-A731-3DD1E4FE2D7F}" type="presParOf" srcId="{FA13693C-D930-41CD-A223-9D5D62D3D32B}" destId="{A60DE34A-C618-4488-9945-5D8D79D39632}" srcOrd="0" destOrd="0" presId="urn:microsoft.com/office/officeart/2008/layout/LinedList"/>
    <dgm:cxn modelId="{77481433-2870-4A4E-8889-FB2B6951F88E}" type="presParOf" srcId="{FA13693C-D930-41CD-A223-9D5D62D3D32B}" destId="{247AEC64-1B09-4B78-AADA-B9A4FA262994}" srcOrd="1" destOrd="0" presId="urn:microsoft.com/office/officeart/2008/layout/LinedList"/>
    <dgm:cxn modelId="{F4BB6097-A000-4795-B9E6-968CCEA869A1}" type="presParOf" srcId="{F90F7615-B1F6-4028-A89E-712EFD02A156}" destId="{80236B88-590B-4216-B6C4-8E9E23894A5C}" srcOrd="8" destOrd="0" presId="urn:microsoft.com/office/officeart/2008/layout/LinedList"/>
    <dgm:cxn modelId="{83BD0827-8CB2-4E43-8896-B6EBE529D4AB}" type="presParOf" srcId="{F90F7615-B1F6-4028-A89E-712EFD02A156}" destId="{FF47A67F-3D0A-4C2A-B51B-CDD062DCE269}" srcOrd="9" destOrd="0" presId="urn:microsoft.com/office/officeart/2008/layout/LinedList"/>
    <dgm:cxn modelId="{03318B88-80A6-44A1-890D-96C68C5278A9}" type="presParOf" srcId="{FF47A67F-3D0A-4C2A-B51B-CDD062DCE269}" destId="{0025E170-9128-4FD0-BEDD-0036697C33E2}" srcOrd="0" destOrd="0" presId="urn:microsoft.com/office/officeart/2008/layout/LinedList"/>
    <dgm:cxn modelId="{6B2FE0F4-8F4C-485E-927E-7882D4D091F8}" type="presParOf" srcId="{FF47A67F-3D0A-4C2A-B51B-CDD062DCE269}" destId="{CB37CF02-8AD8-40C5-B202-20B670B894E7}" srcOrd="1" destOrd="0" presId="urn:microsoft.com/office/officeart/2008/layout/LinedList"/>
    <dgm:cxn modelId="{DAB8D173-B2C1-47D8-B950-E6C7A3160222}" type="presParOf" srcId="{F90F7615-B1F6-4028-A89E-712EFD02A156}" destId="{6E9575FC-3C3B-404B-8984-ABC25EDA229B}" srcOrd="10" destOrd="0" presId="urn:microsoft.com/office/officeart/2008/layout/LinedList"/>
    <dgm:cxn modelId="{ABE45400-F2AC-4BC9-9827-6A292B5F79FF}" type="presParOf" srcId="{F90F7615-B1F6-4028-A89E-712EFD02A156}" destId="{4469084C-A3C4-45FF-BD87-EEC76C3A9010}" srcOrd="11" destOrd="0" presId="urn:microsoft.com/office/officeart/2008/layout/LinedList"/>
    <dgm:cxn modelId="{A5534C78-2602-4A1B-A306-5E0C1446E87C}" type="presParOf" srcId="{4469084C-A3C4-45FF-BD87-EEC76C3A9010}" destId="{D4FADC6E-8513-464C-B0DF-7B112AFDE0E5}" srcOrd="0" destOrd="0" presId="urn:microsoft.com/office/officeart/2008/layout/LinedList"/>
    <dgm:cxn modelId="{571401C4-E2E1-4114-9552-AB2AA6D8C017}" type="presParOf" srcId="{4469084C-A3C4-45FF-BD87-EEC76C3A9010}" destId="{FA05F86A-302C-4AD0-B1EF-B1892A9EE60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6E102D-2782-4756-870C-3FD0F91AD0C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950B19-8F3A-47CC-89DF-15A4DF694ADE}">
      <dgm:prSet/>
      <dgm:spPr/>
      <dgm:t>
        <a:bodyPr/>
        <a:lstStyle/>
        <a:p>
          <a:r>
            <a:rPr lang="en-US"/>
            <a:t>• Address Split Logic divides the CPU address into tag bits and index bits</a:t>
          </a:r>
        </a:p>
      </dgm:t>
    </dgm:pt>
    <dgm:pt modelId="{DC380CE2-52BD-4BB3-9112-C28335C02BB8}" type="parTrans" cxnId="{FE49C009-409A-4048-A64A-A464D1651B00}">
      <dgm:prSet/>
      <dgm:spPr/>
      <dgm:t>
        <a:bodyPr/>
        <a:lstStyle/>
        <a:p>
          <a:endParaRPr lang="en-US"/>
        </a:p>
      </dgm:t>
    </dgm:pt>
    <dgm:pt modelId="{2A337443-A932-4F92-B635-DA6A60E960E6}" type="sibTrans" cxnId="{FE49C009-409A-4048-A64A-A464D1651B00}">
      <dgm:prSet/>
      <dgm:spPr/>
      <dgm:t>
        <a:bodyPr/>
        <a:lstStyle/>
        <a:p>
          <a:endParaRPr lang="en-US"/>
        </a:p>
      </dgm:t>
    </dgm:pt>
    <dgm:pt modelId="{3E193CD0-8135-4992-90CC-C76ED453B7CE}">
      <dgm:prSet/>
      <dgm:spPr/>
      <dgm:t>
        <a:bodyPr/>
        <a:lstStyle/>
        <a:p>
          <a:r>
            <a:rPr lang="en-US"/>
            <a:t>• Tag bits are used for cache comparison operations</a:t>
          </a:r>
        </a:p>
      </dgm:t>
    </dgm:pt>
    <dgm:pt modelId="{54999BD7-754C-47C7-BD38-5F8F13308724}" type="parTrans" cxnId="{17AE4FBA-FC84-4DB7-B41E-D13B2FEC6C66}">
      <dgm:prSet/>
      <dgm:spPr/>
      <dgm:t>
        <a:bodyPr/>
        <a:lstStyle/>
        <a:p>
          <a:endParaRPr lang="en-US"/>
        </a:p>
      </dgm:t>
    </dgm:pt>
    <dgm:pt modelId="{5930960E-0A96-4560-B2E3-F66513B0CF24}" type="sibTrans" cxnId="{17AE4FBA-FC84-4DB7-B41E-D13B2FEC6C66}">
      <dgm:prSet/>
      <dgm:spPr/>
      <dgm:t>
        <a:bodyPr/>
        <a:lstStyle/>
        <a:p>
          <a:endParaRPr lang="en-US"/>
        </a:p>
      </dgm:t>
    </dgm:pt>
    <dgm:pt modelId="{F8A98349-7053-457A-82FA-623E264018E3}">
      <dgm:prSet/>
      <dgm:spPr/>
      <dgm:t>
        <a:bodyPr/>
        <a:lstStyle/>
        <a:p>
          <a:r>
            <a:rPr lang="en-US"/>
            <a:t>• Index bits select the required cache memory line</a:t>
          </a:r>
        </a:p>
      </dgm:t>
    </dgm:pt>
    <dgm:pt modelId="{112FC406-AB01-4841-B60D-084F61ADD50A}" type="parTrans" cxnId="{09E5470C-5353-4AC2-82A6-CD97E8791F5C}">
      <dgm:prSet/>
      <dgm:spPr/>
      <dgm:t>
        <a:bodyPr/>
        <a:lstStyle/>
        <a:p>
          <a:endParaRPr lang="en-US"/>
        </a:p>
      </dgm:t>
    </dgm:pt>
    <dgm:pt modelId="{8E472B8F-2034-4502-8929-2BD356F2DA0E}" type="sibTrans" cxnId="{09E5470C-5353-4AC2-82A6-CD97E8791F5C}">
      <dgm:prSet/>
      <dgm:spPr/>
      <dgm:t>
        <a:bodyPr/>
        <a:lstStyle/>
        <a:p>
          <a:endParaRPr lang="en-US"/>
        </a:p>
      </dgm:t>
    </dgm:pt>
    <dgm:pt modelId="{3350D5AE-24C6-4165-9C5D-8454B8C69EA6}">
      <dgm:prSet/>
      <dgm:spPr/>
      <dgm:t>
        <a:bodyPr/>
        <a:lstStyle/>
        <a:p>
          <a:r>
            <a:rPr lang="en-US"/>
            <a:t>• Valid Bit Array stores validity information for each cache line</a:t>
          </a:r>
        </a:p>
      </dgm:t>
    </dgm:pt>
    <dgm:pt modelId="{3E004B98-2837-4F8A-BE1C-62D0E232CFBF}" type="parTrans" cxnId="{C24527EB-A016-4D74-BCB1-91C186CE7DCA}">
      <dgm:prSet/>
      <dgm:spPr/>
      <dgm:t>
        <a:bodyPr/>
        <a:lstStyle/>
        <a:p>
          <a:endParaRPr lang="en-US"/>
        </a:p>
      </dgm:t>
    </dgm:pt>
    <dgm:pt modelId="{83FA85AC-AABB-4EB8-8E3F-B3CAAEBC23D7}" type="sibTrans" cxnId="{C24527EB-A016-4D74-BCB1-91C186CE7DCA}">
      <dgm:prSet/>
      <dgm:spPr/>
      <dgm:t>
        <a:bodyPr/>
        <a:lstStyle/>
        <a:p>
          <a:endParaRPr lang="en-US"/>
        </a:p>
      </dgm:t>
    </dgm:pt>
    <dgm:pt modelId="{94F7ED88-185D-4FD1-A0AF-17CD4F53B017}">
      <dgm:prSet/>
      <dgm:spPr/>
      <dgm:t>
        <a:bodyPr/>
        <a:lstStyle/>
        <a:p>
          <a:r>
            <a:rPr lang="en-US"/>
            <a:t>• Valid bit = 1 indicates valid cache data is present</a:t>
          </a:r>
        </a:p>
      </dgm:t>
    </dgm:pt>
    <dgm:pt modelId="{64948310-935A-42B8-9C68-10A93703210D}" type="parTrans" cxnId="{A163FAB9-4D2E-44A1-9819-E15E0172A20B}">
      <dgm:prSet/>
      <dgm:spPr/>
      <dgm:t>
        <a:bodyPr/>
        <a:lstStyle/>
        <a:p>
          <a:endParaRPr lang="en-US"/>
        </a:p>
      </dgm:t>
    </dgm:pt>
    <dgm:pt modelId="{77592774-6FC8-472C-A10B-C1133A5A5E1E}" type="sibTrans" cxnId="{A163FAB9-4D2E-44A1-9819-E15E0172A20B}">
      <dgm:prSet/>
      <dgm:spPr/>
      <dgm:t>
        <a:bodyPr/>
        <a:lstStyle/>
        <a:p>
          <a:endParaRPr lang="en-US"/>
        </a:p>
      </dgm:t>
    </dgm:pt>
    <dgm:pt modelId="{AC179A36-07BC-4831-9CDD-A35F7FF3AEFC}">
      <dgm:prSet/>
      <dgm:spPr/>
      <dgm:t>
        <a:bodyPr/>
        <a:lstStyle/>
        <a:p>
          <a:r>
            <a:rPr lang="en-US"/>
            <a:t>• Valid bit = 0 indicates cache line is empty or invalid</a:t>
          </a:r>
        </a:p>
      </dgm:t>
    </dgm:pt>
    <dgm:pt modelId="{EC6A6C15-5F57-44FF-AC8E-703951215987}" type="parTrans" cxnId="{36E5BFA4-D9C4-486A-9CA5-61151A9A6FE3}">
      <dgm:prSet/>
      <dgm:spPr/>
      <dgm:t>
        <a:bodyPr/>
        <a:lstStyle/>
        <a:p>
          <a:endParaRPr lang="en-US"/>
        </a:p>
      </dgm:t>
    </dgm:pt>
    <dgm:pt modelId="{D41E5155-7C61-4966-8685-58CA1D379A0C}" type="sibTrans" cxnId="{36E5BFA4-D9C4-486A-9CA5-61151A9A6FE3}">
      <dgm:prSet/>
      <dgm:spPr/>
      <dgm:t>
        <a:bodyPr/>
        <a:lstStyle/>
        <a:p>
          <a:endParaRPr lang="en-US"/>
        </a:p>
      </dgm:t>
    </dgm:pt>
    <dgm:pt modelId="{9FD1FEE2-025D-45A6-AEF0-1617EE2826B3}">
      <dgm:prSet/>
      <dgm:spPr/>
      <dgm:t>
        <a:bodyPr/>
        <a:lstStyle/>
        <a:p>
          <a:r>
            <a:rPr lang="en-US"/>
            <a:t>• Comparator checks both tag match and valid bit status</a:t>
          </a:r>
        </a:p>
      </dgm:t>
    </dgm:pt>
    <dgm:pt modelId="{7631F7C0-9EA7-44F9-84A7-546099CB1AD9}" type="parTrans" cxnId="{D0CC160E-07EE-40ED-A9F4-400DDEC1927A}">
      <dgm:prSet/>
      <dgm:spPr/>
      <dgm:t>
        <a:bodyPr/>
        <a:lstStyle/>
        <a:p>
          <a:endParaRPr lang="en-US"/>
        </a:p>
      </dgm:t>
    </dgm:pt>
    <dgm:pt modelId="{949190E7-8C73-46F7-90A9-CE5156471FC9}" type="sibTrans" cxnId="{D0CC160E-07EE-40ED-A9F4-400DDEC1927A}">
      <dgm:prSet/>
      <dgm:spPr/>
      <dgm:t>
        <a:bodyPr/>
        <a:lstStyle/>
        <a:p>
          <a:endParaRPr lang="en-US"/>
        </a:p>
      </dgm:t>
    </dgm:pt>
    <dgm:pt modelId="{6652D148-7DD7-4733-B497-49B380C6AD2B}">
      <dgm:prSet/>
      <dgm:spPr/>
      <dgm:t>
        <a:bodyPr/>
        <a:lstStyle/>
        <a:p>
          <a:r>
            <a:rPr lang="en-US"/>
            <a:t>• Together, these modules enable accurate cache hit/miss detection</a:t>
          </a:r>
        </a:p>
      </dgm:t>
    </dgm:pt>
    <dgm:pt modelId="{DA526C2D-2EF2-4367-9E57-CDFA7FC8505F}" type="parTrans" cxnId="{8FE915A2-536F-4D89-BA71-AC4638A0E983}">
      <dgm:prSet/>
      <dgm:spPr/>
      <dgm:t>
        <a:bodyPr/>
        <a:lstStyle/>
        <a:p>
          <a:endParaRPr lang="en-US"/>
        </a:p>
      </dgm:t>
    </dgm:pt>
    <dgm:pt modelId="{B35AEB03-ED6A-484B-A211-3CD3C06D384D}" type="sibTrans" cxnId="{8FE915A2-536F-4D89-BA71-AC4638A0E983}">
      <dgm:prSet/>
      <dgm:spPr/>
      <dgm:t>
        <a:bodyPr/>
        <a:lstStyle/>
        <a:p>
          <a:endParaRPr lang="en-US"/>
        </a:p>
      </dgm:t>
    </dgm:pt>
    <dgm:pt modelId="{BFC74856-72A4-4C22-970A-365C6D650A90}" type="pres">
      <dgm:prSet presAssocID="{216E102D-2782-4756-870C-3FD0F91AD0C5}" presName="vert0" presStyleCnt="0">
        <dgm:presLayoutVars>
          <dgm:dir/>
          <dgm:animOne val="branch"/>
          <dgm:animLvl val="lvl"/>
        </dgm:presLayoutVars>
      </dgm:prSet>
      <dgm:spPr/>
    </dgm:pt>
    <dgm:pt modelId="{135E5CEE-4D90-49BF-B332-FB4D6DFB7E12}" type="pres">
      <dgm:prSet presAssocID="{79950B19-8F3A-47CC-89DF-15A4DF694ADE}" presName="thickLine" presStyleLbl="alignNode1" presStyleIdx="0" presStyleCnt="8"/>
      <dgm:spPr/>
    </dgm:pt>
    <dgm:pt modelId="{ABBB328F-A461-4ED3-8E35-34B6268255DD}" type="pres">
      <dgm:prSet presAssocID="{79950B19-8F3A-47CC-89DF-15A4DF694ADE}" presName="horz1" presStyleCnt="0"/>
      <dgm:spPr/>
    </dgm:pt>
    <dgm:pt modelId="{5AE7B5E2-D031-466C-9495-FB8D97C3EBDC}" type="pres">
      <dgm:prSet presAssocID="{79950B19-8F3A-47CC-89DF-15A4DF694ADE}" presName="tx1" presStyleLbl="revTx" presStyleIdx="0" presStyleCnt="8"/>
      <dgm:spPr/>
    </dgm:pt>
    <dgm:pt modelId="{C3D5E8CC-2A5B-4B48-A24B-61B61A7D6EAC}" type="pres">
      <dgm:prSet presAssocID="{79950B19-8F3A-47CC-89DF-15A4DF694ADE}" presName="vert1" presStyleCnt="0"/>
      <dgm:spPr/>
    </dgm:pt>
    <dgm:pt modelId="{4DCAD266-49E9-46BA-B815-30D115A70CD6}" type="pres">
      <dgm:prSet presAssocID="{3E193CD0-8135-4992-90CC-C76ED453B7CE}" presName="thickLine" presStyleLbl="alignNode1" presStyleIdx="1" presStyleCnt="8"/>
      <dgm:spPr/>
    </dgm:pt>
    <dgm:pt modelId="{E4E33D18-9E2F-4E44-B1E3-898756AAEE6C}" type="pres">
      <dgm:prSet presAssocID="{3E193CD0-8135-4992-90CC-C76ED453B7CE}" presName="horz1" presStyleCnt="0"/>
      <dgm:spPr/>
    </dgm:pt>
    <dgm:pt modelId="{74100F00-5613-4924-886F-9B0894222BD3}" type="pres">
      <dgm:prSet presAssocID="{3E193CD0-8135-4992-90CC-C76ED453B7CE}" presName="tx1" presStyleLbl="revTx" presStyleIdx="1" presStyleCnt="8"/>
      <dgm:spPr/>
    </dgm:pt>
    <dgm:pt modelId="{96A4AD62-BBCA-4751-B21F-59AE0DF16B27}" type="pres">
      <dgm:prSet presAssocID="{3E193CD0-8135-4992-90CC-C76ED453B7CE}" presName="vert1" presStyleCnt="0"/>
      <dgm:spPr/>
    </dgm:pt>
    <dgm:pt modelId="{DD4ADF43-A80B-4B70-926E-6B30A460F94F}" type="pres">
      <dgm:prSet presAssocID="{F8A98349-7053-457A-82FA-623E264018E3}" presName="thickLine" presStyleLbl="alignNode1" presStyleIdx="2" presStyleCnt="8"/>
      <dgm:spPr/>
    </dgm:pt>
    <dgm:pt modelId="{2829D7A7-B1A8-4955-ADF7-D65ACF4D2049}" type="pres">
      <dgm:prSet presAssocID="{F8A98349-7053-457A-82FA-623E264018E3}" presName="horz1" presStyleCnt="0"/>
      <dgm:spPr/>
    </dgm:pt>
    <dgm:pt modelId="{522576C7-B34C-4AD2-8CA5-F9B29F1A86BA}" type="pres">
      <dgm:prSet presAssocID="{F8A98349-7053-457A-82FA-623E264018E3}" presName="tx1" presStyleLbl="revTx" presStyleIdx="2" presStyleCnt="8"/>
      <dgm:spPr/>
    </dgm:pt>
    <dgm:pt modelId="{62DC6B24-2D8D-4D85-9113-87A4E1100D0E}" type="pres">
      <dgm:prSet presAssocID="{F8A98349-7053-457A-82FA-623E264018E3}" presName="vert1" presStyleCnt="0"/>
      <dgm:spPr/>
    </dgm:pt>
    <dgm:pt modelId="{EFC23C01-1816-4016-B6B5-D0A787ED937A}" type="pres">
      <dgm:prSet presAssocID="{3350D5AE-24C6-4165-9C5D-8454B8C69EA6}" presName="thickLine" presStyleLbl="alignNode1" presStyleIdx="3" presStyleCnt="8"/>
      <dgm:spPr/>
    </dgm:pt>
    <dgm:pt modelId="{43E2A815-FB62-4429-8D22-072DF941D822}" type="pres">
      <dgm:prSet presAssocID="{3350D5AE-24C6-4165-9C5D-8454B8C69EA6}" presName="horz1" presStyleCnt="0"/>
      <dgm:spPr/>
    </dgm:pt>
    <dgm:pt modelId="{12CBCB1B-9D93-438A-A339-E7A5BD7D5F5A}" type="pres">
      <dgm:prSet presAssocID="{3350D5AE-24C6-4165-9C5D-8454B8C69EA6}" presName="tx1" presStyleLbl="revTx" presStyleIdx="3" presStyleCnt="8"/>
      <dgm:spPr/>
    </dgm:pt>
    <dgm:pt modelId="{40411449-F6CB-46D3-BEB8-CAA5511A46E8}" type="pres">
      <dgm:prSet presAssocID="{3350D5AE-24C6-4165-9C5D-8454B8C69EA6}" presName="vert1" presStyleCnt="0"/>
      <dgm:spPr/>
    </dgm:pt>
    <dgm:pt modelId="{5C184770-C421-46EA-9B70-AAFAD566B101}" type="pres">
      <dgm:prSet presAssocID="{94F7ED88-185D-4FD1-A0AF-17CD4F53B017}" presName="thickLine" presStyleLbl="alignNode1" presStyleIdx="4" presStyleCnt="8"/>
      <dgm:spPr/>
    </dgm:pt>
    <dgm:pt modelId="{B6DA9EE5-9B1D-4646-BD8A-B6ABDB544945}" type="pres">
      <dgm:prSet presAssocID="{94F7ED88-185D-4FD1-A0AF-17CD4F53B017}" presName="horz1" presStyleCnt="0"/>
      <dgm:spPr/>
    </dgm:pt>
    <dgm:pt modelId="{3BDBCEA8-89EE-4696-A440-454831C2A83E}" type="pres">
      <dgm:prSet presAssocID="{94F7ED88-185D-4FD1-A0AF-17CD4F53B017}" presName="tx1" presStyleLbl="revTx" presStyleIdx="4" presStyleCnt="8"/>
      <dgm:spPr/>
    </dgm:pt>
    <dgm:pt modelId="{75004CBC-CAE7-460F-B24D-20D21C9DB4F4}" type="pres">
      <dgm:prSet presAssocID="{94F7ED88-185D-4FD1-A0AF-17CD4F53B017}" presName="vert1" presStyleCnt="0"/>
      <dgm:spPr/>
    </dgm:pt>
    <dgm:pt modelId="{89387871-4C50-4DCE-B26D-6185553DBF97}" type="pres">
      <dgm:prSet presAssocID="{AC179A36-07BC-4831-9CDD-A35F7FF3AEFC}" presName="thickLine" presStyleLbl="alignNode1" presStyleIdx="5" presStyleCnt="8"/>
      <dgm:spPr/>
    </dgm:pt>
    <dgm:pt modelId="{1670D822-D621-4361-8138-2EECC386FD51}" type="pres">
      <dgm:prSet presAssocID="{AC179A36-07BC-4831-9CDD-A35F7FF3AEFC}" presName="horz1" presStyleCnt="0"/>
      <dgm:spPr/>
    </dgm:pt>
    <dgm:pt modelId="{CECC4E1F-2356-4994-8479-C12113B49B18}" type="pres">
      <dgm:prSet presAssocID="{AC179A36-07BC-4831-9CDD-A35F7FF3AEFC}" presName="tx1" presStyleLbl="revTx" presStyleIdx="5" presStyleCnt="8"/>
      <dgm:spPr/>
    </dgm:pt>
    <dgm:pt modelId="{3D8913E2-6CDC-4EF1-A9C2-27A85CA6D430}" type="pres">
      <dgm:prSet presAssocID="{AC179A36-07BC-4831-9CDD-A35F7FF3AEFC}" presName="vert1" presStyleCnt="0"/>
      <dgm:spPr/>
    </dgm:pt>
    <dgm:pt modelId="{2307C3C8-AB7B-4556-846D-1A30250C11E2}" type="pres">
      <dgm:prSet presAssocID="{9FD1FEE2-025D-45A6-AEF0-1617EE2826B3}" presName="thickLine" presStyleLbl="alignNode1" presStyleIdx="6" presStyleCnt="8"/>
      <dgm:spPr/>
    </dgm:pt>
    <dgm:pt modelId="{2527ADBB-20A7-4062-A09C-EE8584382B49}" type="pres">
      <dgm:prSet presAssocID="{9FD1FEE2-025D-45A6-AEF0-1617EE2826B3}" presName="horz1" presStyleCnt="0"/>
      <dgm:spPr/>
    </dgm:pt>
    <dgm:pt modelId="{12B752B8-4D40-4123-AA6F-16236BDA7688}" type="pres">
      <dgm:prSet presAssocID="{9FD1FEE2-025D-45A6-AEF0-1617EE2826B3}" presName="tx1" presStyleLbl="revTx" presStyleIdx="6" presStyleCnt="8"/>
      <dgm:spPr/>
    </dgm:pt>
    <dgm:pt modelId="{17144B58-CA6C-4435-968C-44A97E4E8257}" type="pres">
      <dgm:prSet presAssocID="{9FD1FEE2-025D-45A6-AEF0-1617EE2826B3}" presName="vert1" presStyleCnt="0"/>
      <dgm:spPr/>
    </dgm:pt>
    <dgm:pt modelId="{6479976B-D8B7-4716-AC42-657476C59BDF}" type="pres">
      <dgm:prSet presAssocID="{6652D148-7DD7-4733-B497-49B380C6AD2B}" presName="thickLine" presStyleLbl="alignNode1" presStyleIdx="7" presStyleCnt="8"/>
      <dgm:spPr/>
    </dgm:pt>
    <dgm:pt modelId="{571183E7-C33C-464D-8E93-CB8B751C66EC}" type="pres">
      <dgm:prSet presAssocID="{6652D148-7DD7-4733-B497-49B380C6AD2B}" presName="horz1" presStyleCnt="0"/>
      <dgm:spPr/>
    </dgm:pt>
    <dgm:pt modelId="{58EA8047-6D60-4DE2-8150-D9649CFF6F80}" type="pres">
      <dgm:prSet presAssocID="{6652D148-7DD7-4733-B497-49B380C6AD2B}" presName="tx1" presStyleLbl="revTx" presStyleIdx="7" presStyleCnt="8"/>
      <dgm:spPr/>
    </dgm:pt>
    <dgm:pt modelId="{C60928AF-7904-4962-923F-B3AD6A6D12CE}" type="pres">
      <dgm:prSet presAssocID="{6652D148-7DD7-4733-B497-49B380C6AD2B}" presName="vert1" presStyleCnt="0"/>
      <dgm:spPr/>
    </dgm:pt>
  </dgm:ptLst>
  <dgm:cxnLst>
    <dgm:cxn modelId="{FE49C009-409A-4048-A64A-A464D1651B00}" srcId="{216E102D-2782-4756-870C-3FD0F91AD0C5}" destId="{79950B19-8F3A-47CC-89DF-15A4DF694ADE}" srcOrd="0" destOrd="0" parTransId="{DC380CE2-52BD-4BB3-9112-C28335C02BB8}" sibTransId="{2A337443-A932-4F92-B635-DA6A60E960E6}"/>
    <dgm:cxn modelId="{E516F309-B139-439C-B60C-53A618F382D5}" type="presOf" srcId="{94F7ED88-185D-4FD1-A0AF-17CD4F53B017}" destId="{3BDBCEA8-89EE-4696-A440-454831C2A83E}" srcOrd="0" destOrd="0" presId="urn:microsoft.com/office/officeart/2008/layout/LinedList"/>
    <dgm:cxn modelId="{09E5470C-5353-4AC2-82A6-CD97E8791F5C}" srcId="{216E102D-2782-4756-870C-3FD0F91AD0C5}" destId="{F8A98349-7053-457A-82FA-623E264018E3}" srcOrd="2" destOrd="0" parTransId="{112FC406-AB01-4841-B60D-084F61ADD50A}" sibTransId="{8E472B8F-2034-4502-8929-2BD356F2DA0E}"/>
    <dgm:cxn modelId="{D0CC160E-07EE-40ED-A9F4-400DDEC1927A}" srcId="{216E102D-2782-4756-870C-3FD0F91AD0C5}" destId="{9FD1FEE2-025D-45A6-AEF0-1617EE2826B3}" srcOrd="6" destOrd="0" parTransId="{7631F7C0-9EA7-44F9-84A7-546099CB1AD9}" sibTransId="{949190E7-8C73-46F7-90A9-CE5156471FC9}"/>
    <dgm:cxn modelId="{1CA77214-076A-467E-8012-F32346F7A1C5}" type="presOf" srcId="{9FD1FEE2-025D-45A6-AEF0-1617EE2826B3}" destId="{12B752B8-4D40-4123-AA6F-16236BDA7688}" srcOrd="0" destOrd="0" presId="urn:microsoft.com/office/officeart/2008/layout/LinedList"/>
    <dgm:cxn modelId="{5F9B264A-FFEF-47CD-ADAA-D1E150EEB6CC}" type="presOf" srcId="{79950B19-8F3A-47CC-89DF-15A4DF694ADE}" destId="{5AE7B5E2-D031-466C-9495-FB8D97C3EBDC}" srcOrd="0" destOrd="0" presId="urn:microsoft.com/office/officeart/2008/layout/LinedList"/>
    <dgm:cxn modelId="{125F8F6D-3F54-400E-B62E-3030505D14DD}" type="presOf" srcId="{3E193CD0-8135-4992-90CC-C76ED453B7CE}" destId="{74100F00-5613-4924-886F-9B0894222BD3}" srcOrd="0" destOrd="0" presId="urn:microsoft.com/office/officeart/2008/layout/LinedList"/>
    <dgm:cxn modelId="{8C966472-4BE9-403B-BA25-E9E7904DB055}" type="presOf" srcId="{6652D148-7DD7-4733-B497-49B380C6AD2B}" destId="{58EA8047-6D60-4DE2-8150-D9649CFF6F80}" srcOrd="0" destOrd="0" presId="urn:microsoft.com/office/officeart/2008/layout/LinedList"/>
    <dgm:cxn modelId="{AC661C59-4715-46C0-BBE0-8397CB6944C3}" type="presOf" srcId="{AC179A36-07BC-4831-9CDD-A35F7FF3AEFC}" destId="{CECC4E1F-2356-4994-8479-C12113B49B18}" srcOrd="0" destOrd="0" presId="urn:microsoft.com/office/officeart/2008/layout/LinedList"/>
    <dgm:cxn modelId="{19B8A18A-B1EA-43E8-ADC4-1F43B79DB433}" type="presOf" srcId="{3350D5AE-24C6-4165-9C5D-8454B8C69EA6}" destId="{12CBCB1B-9D93-438A-A339-E7A5BD7D5F5A}" srcOrd="0" destOrd="0" presId="urn:microsoft.com/office/officeart/2008/layout/LinedList"/>
    <dgm:cxn modelId="{8FE915A2-536F-4D89-BA71-AC4638A0E983}" srcId="{216E102D-2782-4756-870C-3FD0F91AD0C5}" destId="{6652D148-7DD7-4733-B497-49B380C6AD2B}" srcOrd="7" destOrd="0" parTransId="{DA526C2D-2EF2-4367-9E57-CDFA7FC8505F}" sibTransId="{B35AEB03-ED6A-484B-A211-3CD3C06D384D}"/>
    <dgm:cxn modelId="{36E5BFA4-D9C4-486A-9CA5-61151A9A6FE3}" srcId="{216E102D-2782-4756-870C-3FD0F91AD0C5}" destId="{AC179A36-07BC-4831-9CDD-A35F7FF3AEFC}" srcOrd="5" destOrd="0" parTransId="{EC6A6C15-5F57-44FF-AC8E-703951215987}" sibTransId="{D41E5155-7C61-4966-8685-58CA1D379A0C}"/>
    <dgm:cxn modelId="{8F4871A6-CF8D-4894-A4D8-122E9A7F77DF}" type="presOf" srcId="{F8A98349-7053-457A-82FA-623E264018E3}" destId="{522576C7-B34C-4AD2-8CA5-F9B29F1A86BA}" srcOrd="0" destOrd="0" presId="urn:microsoft.com/office/officeart/2008/layout/LinedList"/>
    <dgm:cxn modelId="{A163FAB9-4D2E-44A1-9819-E15E0172A20B}" srcId="{216E102D-2782-4756-870C-3FD0F91AD0C5}" destId="{94F7ED88-185D-4FD1-A0AF-17CD4F53B017}" srcOrd="4" destOrd="0" parTransId="{64948310-935A-42B8-9C68-10A93703210D}" sibTransId="{77592774-6FC8-472C-A10B-C1133A5A5E1E}"/>
    <dgm:cxn modelId="{17AE4FBA-FC84-4DB7-B41E-D13B2FEC6C66}" srcId="{216E102D-2782-4756-870C-3FD0F91AD0C5}" destId="{3E193CD0-8135-4992-90CC-C76ED453B7CE}" srcOrd="1" destOrd="0" parTransId="{54999BD7-754C-47C7-BD38-5F8F13308724}" sibTransId="{5930960E-0A96-4560-B2E3-F66513B0CF24}"/>
    <dgm:cxn modelId="{EA09B6C8-7E7D-413C-BB02-6A8933572332}" type="presOf" srcId="{216E102D-2782-4756-870C-3FD0F91AD0C5}" destId="{BFC74856-72A4-4C22-970A-365C6D650A90}" srcOrd="0" destOrd="0" presId="urn:microsoft.com/office/officeart/2008/layout/LinedList"/>
    <dgm:cxn modelId="{C24527EB-A016-4D74-BCB1-91C186CE7DCA}" srcId="{216E102D-2782-4756-870C-3FD0F91AD0C5}" destId="{3350D5AE-24C6-4165-9C5D-8454B8C69EA6}" srcOrd="3" destOrd="0" parTransId="{3E004B98-2837-4F8A-BE1C-62D0E232CFBF}" sibTransId="{83FA85AC-AABB-4EB8-8E3F-B3CAAEBC23D7}"/>
    <dgm:cxn modelId="{F58DB0C1-A069-4C7D-9473-F9F35F8673BB}" type="presParOf" srcId="{BFC74856-72A4-4C22-970A-365C6D650A90}" destId="{135E5CEE-4D90-49BF-B332-FB4D6DFB7E12}" srcOrd="0" destOrd="0" presId="urn:microsoft.com/office/officeart/2008/layout/LinedList"/>
    <dgm:cxn modelId="{5217D8C1-B995-44FC-A2B8-7B210A9348CE}" type="presParOf" srcId="{BFC74856-72A4-4C22-970A-365C6D650A90}" destId="{ABBB328F-A461-4ED3-8E35-34B6268255DD}" srcOrd="1" destOrd="0" presId="urn:microsoft.com/office/officeart/2008/layout/LinedList"/>
    <dgm:cxn modelId="{DA1ED6DB-85FB-4A64-B11C-CE4534D9839F}" type="presParOf" srcId="{ABBB328F-A461-4ED3-8E35-34B6268255DD}" destId="{5AE7B5E2-D031-466C-9495-FB8D97C3EBDC}" srcOrd="0" destOrd="0" presId="urn:microsoft.com/office/officeart/2008/layout/LinedList"/>
    <dgm:cxn modelId="{3334072B-FCE5-4BCE-8FB4-E6B82617B0F1}" type="presParOf" srcId="{ABBB328F-A461-4ED3-8E35-34B6268255DD}" destId="{C3D5E8CC-2A5B-4B48-A24B-61B61A7D6EAC}" srcOrd="1" destOrd="0" presId="urn:microsoft.com/office/officeart/2008/layout/LinedList"/>
    <dgm:cxn modelId="{DFF9C298-FFCC-4B7B-AE87-09F5B7C8B764}" type="presParOf" srcId="{BFC74856-72A4-4C22-970A-365C6D650A90}" destId="{4DCAD266-49E9-46BA-B815-30D115A70CD6}" srcOrd="2" destOrd="0" presId="urn:microsoft.com/office/officeart/2008/layout/LinedList"/>
    <dgm:cxn modelId="{674EE989-06ED-4778-AC19-67F037E150FB}" type="presParOf" srcId="{BFC74856-72A4-4C22-970A-365C6D650A90}" destId="{E4E33D18-9E2F-4E44-B1E3-898756AAEE6C}" srcOrd="3" destOrd="0" presId="urn:microsoft.com/office/officeart/2008/layout/LinedList"/>
    <dgm:cxn modelId="{2ED1444A-F23A-431F-9C9D-0F8C1F5E64BE}" type="presParOf" srcId="{E4E33D18-9E2F-4E44-B1E3-898756AAEE6C}" destId="{74100F00-5613-4924-886F-9B0894222BD3}" srcOrd="0" destOrd="0" presId="urn:microsoft.com/office/officeart/2008/layout/LinedList"/>
    <dgm:cxn modelId="{1A3B8467-85DB-43B5-8ED9-D300C9FE2AFC}" type="presParOf" srcId="{E4E33D18-9E2F-4E44-B1E3-898756AAEE6C}" destId="{96A4AD62-BBCA-4751-B21F-59AE0DF16B27}" srcOrd="1" destOrd="0" presId="urn:microsoft.com/office/officeart/2008/layout/LinedList"/>
    <dgm:cxn modelId="{075FDF3C-E187-4EF4-8C1D-7598906B6508}" type="presParOf" srcId="{BFC74856-72A4-4C22-970A-365C6D650A90}" destId="{DD4ADF43-A80B-4B70-926E-6B30A460F94F}" srcOrd="4" destOrd="0" presId="urn:microsoft.com/office/officeart/2008/layout/LinedList"/>
    <dgm:cxn modelId="{A45BB0DF-48E5-4D90-9FFE-8D6FF1DFAE23}" type="presParOf" srcId="{BFC74856-72A4-4C22-970A-365C6D650A90}" destId="{2829D7A7-B1A8-4955-ADF7-D65ACF4D2049}" srcOrd="5" destOrd="0" presId="urn:microsoft.com/office/officeart/2008/layout/LinedList"/>
    <dgm:cxn modelId="{1499E978-917C-4AC4-898A-2461815C6B0A}" type="presParOf" srcId="{2829D7A7-B1A8-4955-ADF7-D65ACF4D2049}" destId="{522576C7-B34C-4AD2-8CA5-F9B29F1A86BA}" srcOrd="0" destOrd="0" presId="urn:microsoft.com/office/officeart/2008/layout/LinedList"/>
    <dgm:cxn modelId="{0D50DDD1-4CBE-42C0-A5FB-EE618E05ED37}" type="presParOf" srcId="{2829D7A7-B1A8-4955-ADF7-D65ACF4D2049}" destId="{62DC6B24-2D8D-4D85-9113-87A4E1100D0E}" srcOrd="1" destOrd="0" presId="urn:microsoft.com/office/officeart/2008/layout/LinedList"/>
    <dgm:cxn modelId="{0ECD2240-6953-48F3-99D2-A629266A402C}" type="presParOf" srcId="{BFC74856-72A4-4C22-970A-365C6D650A90}" destId="{EFC23C01-1816-4016-B6B5-D0A787ED937A}" srcOrd="6" destOrd="0" presId="urn:microsoft.com/office/officeart/2008/layout/LinedList"/>
    <dgm:cxn modelId="{EEC58B9A-4BC9-46DA-9287-8F5C6BD60524}" type="presParOf" srcId="{BFC74856-72A4-4C22-970A-365C6D650A90}" destId="{43E2A815-FB62-4429-8D22-072DF941D822}" srcOrd="7" destOrd="0" presId="urn:microsoft.com/office/officeart/2008/layout/LinedList"/>
    <dgm:cxn modelId="{1C1018BE-A87D-489A-9FA6-84D0066C1A14}" type="presParOf" srcId="{43E2A815-FB62-4429-8D22-072DF941D822}" destId="{12CBCB1B-9D93-438A-A339-E7A5BD7D5F5A}" srcOrd="0" destOrd="0" presId="urn:microsoft.com/office/officeart/2008/layout/LinedList"/>
    <dgm:cxn modelId="{7F408438-68F4-4AFF-BBD1-0DE3E30649C6}" type="presParOf" srcId="{43E2A815-FB62-4429-8D22-072DF941D822}" destId="{40411449-F6CB-46D3-BEB8-CAA5511A46E8}" srcOrd="1" destOrd="0" presId="urn:microsoft.com/office/officeart/2008/layout/LinedList"/>
    <dgm:cxn modelId="{34099501-D4FC-4006-AE9C-C40C2645615D}" type="presParOf" srcId="{BFC74856-72A4-4C22-970A-365C6D650A90}" destId="{5C184770-C421-46EA-9B70-AAFAD566B101}" srcOrd="8" destOrd="0" presId="urn:microsoft.com/office/officeart/2008/layout/LinedList"/>
    <dgm:cxn modelId="{86EB133F-9055-423F-9B3B-52C7B2B2F1F5}" type="presParOf" srcId="{BFC74856-72A4-4C22-970A-365C6D650A90}" destId="{B6DA9EE5-9B1D-4646-BD8A-B6ABDB544945}" srcOrd="9" destOrd="0" presId="urn:microsoft.com/office/officeart/2008/layout/LinedList"/>
    <dgm:cxn modelId="{AEC0923F-E36A-4D71-98B9-CD1A22D1380D}" type="presParOf" srcId="{B6DA9EE5-9B1D-4646-BD8A-B6ABDB544945}" destId="{3BDBCEA8-89EE-4696-A440-454831C2A83E}" srcOrd="0" destOrd="0" presId="urn:microsoft.com/office/officeart/2008/layout/LinedList"/>
    <dgm:cxn modelId="{8D877643-1EC0-4EE9-BFCA-1EB89179F121}" type="presParOf" srcId="{B6DA9EE5-9B1D-4646-BD8A-B6ABDB544945}" destId="{75004CBC-CAE7-460F-B24D-20D21C9DB4F4}" srcOrd="1" destOrd="0" presId="urn:microsoft.com/office/officeart/2008/layout/LinedList"/>
    <dgm:cxn modelId="{634A8AAE-7E67-4DFE-AF66-E674EB427D73}" type="presParOf" srcId="{BFC74856-72A4-4C22-970A-365C6D650A90}" destId="{89387871-4C50-4DCE-B26D-6185553DBF97}" srcOrd="10" destOrd="0" presId="urn:microsoft.com/office/officeart/2008/layout/LinedList"/>
    <dgm:cxn modelId="{73CE337E-EA68-4B3A-8007-A4D1E0C6D59D}" type="presParOf" srcId="{BFC74856-72A4-4C22-970A-365C6D650A90}" destId="{1670D822-D621-4361-8138-2EECC386FD51}" srcOrd="11" destOrd="0" presId="urn:microsoft.com/office/officeart/2008/layout/LinedList"/>
    <dgm:cxn modelId="{48185FA5-C7CE-4507-B906-E82C599E7341}" type="presParOf" srcId="{1670D822-D621-4361-8138-2EECC386FD51}" destId="{CECC4E1F-2356-4994-8479-C12113B49B18}" srcOrd="0" destOrd="0" presId="urn:microsoft.com/office/officeart/2008/layout/LinedList"/>
    <dgm:cxn modelId="{331F2EA9-9809-4450-BFAD-CA071C7285C2}" type="presParOf" srcId="{1670D822-D621-4361-8138-2EECC386FD51}" destId="{3D8913E2-6CDC-4EF1-A9C2-27A85CA6D430}" srcOrd="1" destOrd="0" presId="urn:microsoft.com/office/officeart/2008/layout/LinedList"/>
    <dgm:cxn modelId="{82A8D9E7-E2B7-4A53-8485-1B9C4415C511}" type="presParOf" srcId="{BFC74856-72A4-4C22-970A-365C6D650A90}" destId="{2307C3C8-AB7B-4556-846D-1A30250C11E2}" srcOrd="12" destOrd="0" presId="urn:microsoft.com/office/officeart/2008/layout/LinedList"/>
    <dgm:cxn modelId="{F5556315-0A77-4979-83B4-DBF460420655}" type="presParOf" srcId="{BFC74856-72A4-4C22-970A-365C6D650A90}" destId="{2527ADBB-20A7-4062-A09C-EE8584382B49}" srcOrd="13" destOrd="0" presId="urn:microsoft.com/office/officeart/2008/layout/LinedList"/>
    <dgm:cxn modelId="{B4E6C754-0982-4177-9F14-40A607A742C6}" type="presParOf" srcId="{2527ADBB-20A7-4062-A09C-EE8584382B49}" destId="{12B752B8-4D40-4123-AA6F-16236BDA7688}" srcOrd="0" destOrd="0" presId="urn:microsoft.com/office/officeart/2008/layout/LinedList"/>
    <dgm:cxn modelId="{F2000C69-7840-4213-8755-D2D9AE989CE1}" type="presParOf" srcId="{2527ADBB-20A7-4062-A09C-EE8584382B49}" destId="{17144B58-CA6C-4435-968C-44A97E4E8257}" srcOrd="1" destOrd="0" presId="urn:microsoft.com/office/officeart/2008/layout/LinedList"/>
    <dgm:cxn modelId="{6A8B132E-BA85-4363-978B-6709067B6708}" type="presParOf" srcId="{BFC74856-72A4-4C22-970A-365C6D650A90}" destId="{6479976B-D8B7-4716-AC42-657476C59BDF}" srcOrd="14" destOrd="0" presId="urn:microsoft.com/office/officeart/2008/layout/LinedList"/>
    <dgm:cxn modelId="{9BBF7005-DED0-4005-9AC2-353C17C05E67}" type="presParOf" srcId="{BFC74856-72A4-4C22-970A-365C6D650A90}" destId="{571183E7-C33C-464D-8E93-CB8B751C66EC}" srcOrd="15" destOrd="0" presId="urn:microsoft.com/office/officeart/2008/layout/LinedList"/>
    <dgm:cxn modelId="{0FADE1BE-59B7-47F5-BEE5-9F6E69640126}" type="presParOf" srcId="{571183E7-C33C-464D-8E93-CB8B751C66EC}" destId="{58EA8047-6D60-4DE2-8150-D9649CFF6F80}" srcOrd="0" destOrd="0" presId="urn:microsoft.com/office/officeart/2008/layout/LinedList"/>
    <dgm:cxn modelId="{090D8802-4EB1-4287-93BB-10783966AD45}" type="presParOf" srcId="{571183E7-C33C-464D-8E93-CB8B751C66EC}" destId="{C60928AF-7904-4962-923F-B3AD6A6D12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99E00EE-1222-4A70-85AE-F35726993E3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4C86B7-BB2D-4C5C-97CF-902114BB18A9}">
      <dgm:prSet/>
      <dgm:spPr/>
      <dgm:t>
        <a:bodyPr/>
        <a:lstStyle/>
        <a:p>
          <a:r>
            <a:rPr lang="en-IN"/>
            <a:t>• Integrates all cache datapath modules.</a:t>
          </a:r>
          <a:endParaRPr lang="en-US"/>
        </a:p>
      </dgm:t>
    </dgm:pt>
    <dgm:pt modelId="{D0C45B48-9918-4564-A672-8B89AA60C795}" type="parTrans" cxnId="{4DBC44C4-95DF-428D-9FF2-CB4CEAB61514}">
      <dgm:prSet/>
      <dgm:spPr/>
      <dgm:t>
        <a:bodyPr/>
        <a:lstStyle/>
        <a:p>
          <a:endParaRPr lang="en-US"/>
        </a:p>
      </dgm:t>
    </dgm:pt>
    <dgm:pt modelId="{805C1AD1-E526-4ADF-9F32-1727E5B68201}" type="sibTrans" cxnId="{4DBC44C4-95DF-428D-9FF2-CB4CEAB61514}">
      <dgm:prSet/>
      <dgm:spPr/>
      <dgm:t>
        <a:bodyPr/>
        <a:lstStyle/>
        <a:p>
          <a:endParaRPr lang="en-US"/>
        </a:p>
      </dgm:t>
    </dgm:pt>
    <dgm:pt modelId="{6E3C6E89-AFA4-4A16-82FE-1D9611FFD9CE}">
      <dgm:prSet/>
      <dgm:spPr/>
      <dgm:t>
        <a:bodyPr/>
        <a:lstStyle/>
        <a:p>
          <a:r>
            <a:rPr lang="en-IN"/>
            <a:t>• Connects SRAM, tag and valid arrays.</a:t>
          </a:r>
          <a:endParaRPr lang="en-US"/>
        </a:p>
      </dgm:t>
    </dgm:pt>
    <dgm:pt modelId="{18348362-3B70-4DA8-9536-B95D2E1CCBC9}" type="parTrans" cxnId="{33527C80-2103-4C3F-B0CB-7D6F0A5BD7AC}">
      <dgm:prSet/>
      <dgm:spPr/>
      <dgm:t>
        <a:bodyPr/>
        <a:lstStyle/>
        <a:p>
          <a:endParaRPr lang="en-US"/>
        </a:p>
      </dgm:t>
    </dgm:pt>
    <dgm:pt modelId="{D9988930-E42F-4FA9-9FA2-8F1894C3F04D}" type="sibTrans" cxnId="{33527C80-2103-4C3F-B0CB-7D6F0A5BD7AC}">
      <dgm:prSet/>
      <dgm:spPr/>
      <dgm:t>
        <a:bodyPr/>
        <a:lstStyle/>
        <a:p>
          <a:endParaRPr lang="en-US"/>
        </a:p>
      </dgm:t>
    </dgm:pt>
    <dgm:pt modelId="{8B699A78-7DC2-4226-935A-05EE29181BB5}">
      <dgm:prSet/>
      <dgm:spPr/>
      <dgm:t>
        <a:bodyPr/>
        <a:lstStyle/>
        <a:p>
          <a:r>
            <a:rPr lang="en-IN"/>
            <a:t>• Performs cache hit/miss detection.</a:t>
          </a:r>
          <a:endParaRPr lang="en-US"/>
        </a:p>
      </dgm:t>
    </dgm:pt>
    <dgm:pt modelId="{4A3BA3DB-9921-482B-AC93-4DFF2B97C5C9}" type="parTrans" cxnId="{B9E0A8CF-9BA6-45EF-96C7-EF818D1ED657}">
      <dgm:prSet/>
      <dgm:spPr/>
      <dgm:t>
        <a:bodyPr/>
        <a:lstStyle/>
        <a:p>
          <a:endParaRPr lang="en-US"/>
        </a:p>
      </dgm:t>
    </dgm:pt>
    <dgm:pt modelId="{464E83FD-9E55-4778-A005-07D6FCDC8480}" type="sibTrans" cxnId="{B9E0A8CF-9BA6-45EF-96C7-EF818D1ED657}">
      <dgm:prSet/>
      <dgm:spPr/>
      <dgm:t>
        <a:bodyPr/>
        <a:lstStyle/>
        <a:p>
          <a:endParaRPr lang="en-US"/>
        </a:p>
      </dgm:t>
    </dgm:pt>
    <dgm:pt modelId="{B5CC0264-01E2-4A82-AE58-FBD796DA63D9}">
      <dgm:prSet/>
      <dgm:spPr/>
      <dgm:t>
        <a:bodyPr/>
        <a:lstStyle/>
        <a:p>
          <a:r>
            <a:rPr lang="en-IN"/>
            <a:t>• Controls cache read/write operations.</a:t>
          </a:r>
          <a:endParaRPr lang="en-US"/>
        </a:p>
      </dgm:t>
    </dgm:pt>
    <dgm:pt modelId="{8E04E466-AAF5-4149-9E3B-A921FF208046}" type="parTrans" cxnId="{4F7D2A47-C8D7-4EBD-9CBE-DEDCFFDF9228}">
      <dgm:prSet/>
      <dgm:spPr/>
      <dgm:t>
        <a:bodyPr/>
        <a:lstStyle/>
        <a:p>
          <a:endParaRPr lang="en-US"/>
        </a:p>
      </dgm:t>
    </dgm:pt>
    <dgm:pt modelId="{42C815B7-2975-4738-B011-49B901B645E6}" type="sibTrans" cxnId="{4F7D2A47-C8D7-4EBD-9CBE-DEDCFFDF9228}">
      <dgm:prSet/>
      <dgm:spPr/>
      <dgm:t>
        <a:bodyPr/>
        <a:lstStyle/>
        <a:p>
          <a:endParaRPr lang="en-US"/>
        </a:p>
      </dgm:t>
    </dgm:pt>
    <dgm:pt modelId="{6C561EB0-5BDC-4155-A330-9B5BA8A91335}">
      <dgm:prSet/>
      <dgm:spPr/>
      <dgm:t>
        <a:bodyPr/>
        <a:lstStyle/>
        <a:p>
          <a:r>
            <a:rPr lang="en-IN"/>
            <a:t>• Outputs final cache data to CPU.</a:t>
          </a:r>
          <a:endParaRPr lang="en-US"/>
        </a:p>
      </dgm:t>
    </dgm:pt>
    <dgm:pt modelId="{1B774F65-408B-44BB-9F5C-F089875AB3C3}" type="parTrans" cxnId="{5C24ABFB-49CC-4B70-A34D-441CA17158EA}">
      <dgm:prSet/>
      <dgm:spPr/>
      <dgm:t>
        <a:bodyPr/>
        <a:lstStyle/>
        <a:p>
          <a:endParaRPr lang="en-US"/>
        </a:p>
      </dgm:t>
    </dgm:pt>
    <dgm:pt modelId="{DB5C130A-F012-4723-8235-7D60B0651678}" type="sibTrans" cxnId="{5C24ABFB-49CC-4B70-A34D-441CA17158EA}">
      <dgm:prSet/>
      <dgm:spPr/>
      <dgm:t>
        <a:bodyPr/>
        <a:lstStyle/>
        <a:p>
          <a:endParaRPr lang="en-US"/>
        </a:p>
      </dgm:t>
    </dgm:pt>
    <dgm:pt modelId="{FC72533D-A27E-4BBD-A722-BFA025E12BEC}">
      <dgm:prSet/>
      <dgm:spPr/>
      <dgm:t>
        <a:bodyPr/>
        <a:lstStyle/>
        <a:p>
          <a:r>
            <a:rPr lang="en-IN"/>
            <a:t>• Represents complete cache datapath.</a:t>
          </a:r>
          <a:endParaRPr lang="en-US"/>
        </a:p>
      </dgm:t>
    </dgm:pt>
    <dgm:pt modelId="{1B034CD4-C32E-429F-AF27-00388B62784B}" type="parTrans" cxnId="{D6CFC9BF-9B97-444D-93DE-CB7C9C6BB961}">
      <dgm:prSet/>
      <dgm:spPr/>
      <dgm:t>
        <a:bodyPr/>
        <a:lstStyle/>
        <a:p>
          <a:endParaRPr lang="en-US"/>
        </a:p>
      </dgm:t>
    </dgm:pt>
    <dgm:pt modelId="{5CE06B8A-457F-424E-986B-0A7ED8644007}" type="sibTrans" cxnId="{D6CFC9BF-9B97-444D-93DE-CB7C9C6BB961}">
      <dgm:prSet/>
      <dgm:spPr/>
      <dgm:t>
        <a:bodyPr/>
        <a:lstStyle/>
        <a:p>
          <a:endParaRPr lang="en-US"/>
        </a:p>
      </dgm:t>
    </dgm:pt>
    <dgm:pt modelId="{E705BABA-0C07-4CB8-81E1-A6ABA95D980F}" type="pres">
      <dgm:prSet presAssocID="{399E00EE-1222-4A70-85AE-F35726993E3C}" presName="vert0" presStyleCnt="0">
        <dgm:presLayoutVars>
          <dgm:dir/>
          <dgm:animOne val="branch"/>
          <dgm:animLvl val="lvl"/>
        </dgm:presLayoutVars>
      </dgm:prSet>
      <dgm:spPr/>
    </dgm:pt>
    <dgm:pt modelId="{FD5D052C-35C3-4F6F-924C-D5A693CD7B27}" type="pres">
      <dgm:prSet presAssocID="{9C4C86B7-BB2D-4C5C-97CF-902114BB18A9}" presName="thickLine" presStyleLbl="alignNode1" presStyleIdx="0" presStyleCnt="6"/>
      <dgm:spPr/>
    </dgm:pt>
    <dgm:pt modelId="{D827FAE2-9F59-4355-83C0-44D4D43DC2CA}" type="pres">
      <dgm:prSet presAssocID="{9C4C86B7-BB2D-4C5C-97CF-902114BB18A9}" presName="horz1" presStyleCnt="0"/>
      <dgm:spPr/>
    </dgm:pt>
    <dgm:pt modelId="{17129C9F-0B24-4DFF-A722-4A9861D20C6A}" type="pres">
      <dgm:prSet presAssocID="{9C4C86B7-BB2D-4C5C-97CF-902114BB18A9}" presName="tx1" presStyleLbl="revTx" presStyleIdx="0" presStyleCnt="6"/>
      <dgm:spPr/>
    </dgm:pt>
    <dgm:pt modelId="{7001463B-C035-4067-AD1C-B40CB45F1A51}" type="pres">
      <dgm:prSet presAssocID="{9C4C86B7-BB2D-4C5C-97CF-902114BB18A9}" presName="vert1" presStyleCnt="0"/>
      <dgm:spPr/>
    </dgm:pt>
    <dgm:pt modelId="{70E4A96C-170C-47D7-942F-7CFEADB25395}" type="pres">
      <dgm:prSet presAssocID="{6E3C6E89-AFA4-4A16-82FE-1D9611FFD9CE}" presName="thickLine" presStyleLbl="alignNode1" presStyleIdx="1" presStyleCnt="6"/>
      <dgm:spPr/>
    </dgm:pt>
    <dgm:pt modelId="{9751FFCB-78D8-4636-8940-79295F113123}" type="pres">
      <dgm:prSet presAssocID="{6E3C6E89-AFA4-4A16-82FE-1D9611FFD9CE}" presName="horz1" presStyleCnt="0"/>
      <dgm:spPr/>
    </dgm:pt>
    <dgm:pt modelId="{F19BB9C4-930C-411A-832D-EFE0D4C7D732}" type="pres">
      <dgm:prSet presAssocID="{6E3C6E89-AFA4-4A16-82FE-1D9611FFD9CE}" presName="tx1" presStyleLbl="revTx" presStyleIdx="1" presStyleCnt="6"/>
      <dgm:spPr/>
    </dgm:pt>
    <dgm:pt modelId="{F28AF672-1D3D-41B6-985F-182757E4E5EC}" type="pres">
      <dgm:prSet presAssocID="{6E3C6E89-AFA4-4A16-82FE-1D9611FFD9CE}" presName="vert1" presStyleCnt="0"/>
      <dgm:spPr/>
    </dgm:pt>
    <dgm:pt modelId="{DD9B3C82-0755-449D-9274-7805BAFE3F0E}" type="pres">
      <dgm:prSet presAssocID="{8B699A78-7DC2-4226-935A-05EE29181BB5}" presName="thickLine" presStyleLbl="alignNode1" presStyleIdx="2" presStyleCnt="6"/>
      <dgm:spPr/>
    </dgm:pt>
    <dgm:pt modelId="{5DA05B02-855B-40DC-9C04-A663CE336535}" type="pres">
      <dgm:prSet presAssocID="{8B699A78-7DC2-4226-935A-05EE29181BB5}" presName="horz1" presStyleCnt="0"/>
      <dgm:spPr/>
    </dgm:pt>
    <dgm:pt modelId="{A97F4E10-4660-4526-8396-8DFE138E6E14}" type="pres">
      <dgm:prSet presAssocID="{8B699A78-7DC2-4226-935A-05EE29181BB5}" presName="tx1" presStyleLbl="revTx" presStyleIdx="2" presStyleCnt="6"/>
      <dgm:spPr/>
    </dgm:pt>
    <dgm:pt modelId="{AB264331-1D52-4128-96D8-7FFB76D23121}" type="pres">
      <dgm:prSet presAssocID="{8B699A78-7DC2-4226-935A-05EE29181BB5}" presName="vert1" presStyleCnt="0"/>
      <dgm:spPr/>
    </dgm:pt>
    <dgm:pt modelId="{E1D3D010-AE75-422E-B570-FF30FB019CCD}" type="pres">
      <dgm:prSet presAssocID="{B5CC0264-01E2-4A82-AE58-FBD796DA63D9}" presName="thickLine" presStyleLbl="alignNode1" presStyleIdx="3" presStyleCnt="6"/>
      <dgm:spPr/>
    </dgm:pt>
    <dgm:pt modelId="{7161F51D-F2BE-4809-BD5E-3B347C01321C}" type="pres">
      <dgm:prSet presAssocID="{B5CC0264-01E2-4A82-AE58-FBD796DA63D9}" presName="horz1" presStyleCnt="0"/>
      <dgm:spPr/>
    </dgm:pt>
    <dgm:pt modelId="{1FFD2FF1-6900-4F3A-B1AA-FFBBDD3329E4}" type="pres">
      <dgm:prSet presAssocID="{B5CC0264-01E2-4A82-AE58-FBD796DA63D9}" presName="tx1" presStyleLbl="revTx" presStyleIdx="3" presStyleCnt="6"/>
      <dgm:spPr/>
    </dgm:pt>
    <dgm:pt modelId="{B91F3283-7028-40CF-B469-EFF75B6B6C7E}" type="pres">
      <dgm:prSet presAssocID="{B5CC0264-01E2-4A82-AE58-FBD796DA63D9}" presName="vert1" presStyleCnt="0"/>
      <dgm:spPr/>
    </dgm:pt>
    <dgm:pt modelId="{C9AB70F0-88EA-411B-8DC0-3ECF201B7535}" type="pres">
      <dgm:prSet presAssocID="{6C561EB0-5BDC-4155-A330-9B5BA8A91335}" presName="thickLine" presStyleLbl="alignNode1" presStyleIdx="4" presStyleCnt="6"/>
      <dgm:spPr/>
    </dgm:pt>
    <dgm:pt modelId="{7221B644-BC31-458B-9F49-79CD64E8A8BB}" type="pres">
      <dgm:prSet presAssocID="{6C561EB0-5BDC-4155-A330-9B5BA8A91335}" presName="horz1" presStyleCnt="0"/>
      <dgm:spPr/>
    </dgm:pt>
    <dgm:pt modelId="{1C952B04-017F-47C2-9037-9A9DAADBFCA7}" type="pres">
      <dgm:prSet presAssocID="{6C561EB0-5BDC-4155-A330-9B5BA8A91335}" presName="tx1" presStyleLbl="revTx" presStyleIdx="4" presStyleCnt="6"/>
      <dgm:spPr/>
    </dgm:pt>
    <dgm:pt modelId="{C315BFE8-4964-4D00-AFDC-DE337D2E2677}" type="pres">
      <dgm:prSet presAssocID="{6C561EB0-5BDC-4155-A330-9B5BA8A91335}" presName="vert1" presStyleCnt="0"/>
      <dgm:spPr/>
    </dgm:pt>
    <dgm:pt modelId="{6EADEA48-11AC-4C28-B4C3-63DC4C9EFD4A}" type="pres">
      <dgm:prSet presAssocID="{FC72533D-A27E-4BBD-A722-BFA025E12BEC}" presName="thickLine" presStyleLbl="alignNode1" presStyleIdx="5" presStyleCnt="6"/>
      <dgm:spPr/>
    </dgm:pt>
    <dgm:pt modelId="{25E71C16-B180-464B-8C6F-F9B1FB29D304}" type="pres">
      <dgm:prSet presAssocID="{FC72533D-A27E-4BBD-A722-BFA025E12BEC}" presName="horz1" presStyleCnt="0"/>
      <dgm:spPr/>
    </dgm:pt>
    <dgm:pt modelId="{528D4D36-896C-4898-B441-A7BC65441B2C}" type="pres">
      <dgm:prSet presAssocID="{FC72533D-A27E-4BBD-A722-BFA025E12BEC}" presName="tx1" presStyleLbl="revTx" presStyleIdx="5" presStyleCnt="6"/>
      <dgm:spPr/>
    </dgm:pt>
    <dgm:pt modelId="{BB97E906-1D96-49F7-B45A-70E5EBDD94BB}" type="pres">
      <dgm:prSet presAssocID="{FC72533D-A27E-4BBD-A722-BFA025E12BEC}" presName="vert1" presStyleCnt="0"/>
      <dgm:spPr/>
    </dgm:pt>
  </dgm:ptLst>
  <dgm:cxnLst>
    <dgm:cxn modelId="{24549F09-3DB7-4507-B880-15B127924DB8}" type="presOf" srcId="{6E3C6E89-AFA4-4A16-82FE-1D9611FFD9CE}" destId="{F19BB9C4-930C-411A-832D-EFE0D4C7D732}" srcOrd="0" destOrd="0" presId="urn:microsoft.com/office/officeart/2008/layout/LinedList"/>
    <dgm:cxn modelId="{5911B81B-6EA6-4447-9D9C-A123EA413D17}" type="presOf" srcId="{9C4C86B7-BB2D-4C5C-97CF-902114BB18A9}" destId="{17129C9F-0B24-4DFF-A722-4A9861D20C6A}" srcOrd="0" destOrd="0" presId="urn:microsoft.com/office/officeart/2008/layout/LinedList"/>
    <dgm:cxn modelId="{F0B1F72C-BD1F-4AE8-A3D3-9FDF45D852A4}" type="presOf" srcId="{6C561EB0-5BDC-4155-A330-9B5BA8A91335}" destId="{1C952B04-017F-47C2-9037-9A9DAADBFCA7}" srcOrd="0" destOrd="0" presId="urn:microsoft.com/office/officeart/2008/layout/LinedList"/>
    <dgm:cxn modelId="{4F7D2A47-C8D7-4EBD-9CBE-DEDCFFDF9228}" srcId="{399E00EE-1222-4A70-85AE-F35726993E3C}" destId="{B5CC0264-01E2-4A82-AE58-FBD796DA63D9}" srcOrd="3" destOrd="0" parTransId="{8E04E466-AAF5-4149-9E3B-A921FF208046}" sibTransId="{42C815B7-2975-4738-B011-49B901B645E6}"/>
    <dgm:cxn modelId="{33527C80-2103-4C3F-B0CB-7D6F0A5BD7AC}" srcId="{399E00EE-1222-4A70-85AE-F35726993E3C}" destId="{6E3C6E89-AFA4-4A16-82FE-1D9611FFD9CE}" srcOrd="1" destOrd="0" parTransId="{18348362-3B70-4DA8-9536-B95D2E1CCBC9}" sibTransId="{D9988930-E42F-4FA9-9FA2-8F1894C3F04D}"/>
    <dgm:cxn modelId="{A31F4282-2B9E-44D8-BA67-1D95E09F53E8}" type="presOf" srcId="{399E00EE-1222-4A70-85AE-F35726993E3C}" destId="{E705BABA-0C07-4CB8-81E1-A6ABA95D980F}" srcOrd="0" destOrd="0" presId="urn:microsoft.com/office/officeart/2008/layout/LinedList"/>
    <dgm:cxn modelId="{9B2B58A8-A07F-4DBE-B6CB-D995301B94E1}" type="presOf" srcId="{B5CC0264-01E2-4A82-AE58-FBD796DA63D9}" destId="{1FFD2FF1-6900-4F3A-B1AA-FFBBDD3329E4}" srcOrd="0" destOrd="0" presId="urn:microsoft.com/office/officeart/2008/layout/LinedList"/>
    <dgm:cxn modelId="{D6CFC9BF-9B97-444D-93DE-CB7C9C6BB961}" srcId="{399E00EE-1222-4A70-85AE-F35726993E3C}" destId="{FC72533D-A27E-4BBD-A722-BFA025E12BEC}" srcOrd="5" destOrd="0" parTransId="{1B034CD4-C32E-429F-AF27-00388B62784B}" sibTransId="{5CE06B8A-457F-424E-986B-0A7ED8644007}"/>
    <dgm:cxn modelId="{4DBC44C4-95DF-428D-9FF2-CB4CEAB61514}" srcId="{399E00EE-1222-4A70-85AE-F35726993E3C}" destId="{9C4C86B7-BB2D-4C5C-97CF-902114BB18A9}" srcOrd="0" destOrd="0" parTransId="{D0C45B48-9918-4564-A672-8B89AA60C795}" sibTransId="{805C1AD1-E526-4ADF-9F32-1727E5B68201}"/>
    <dgm:cxn modelId="{B9E0A8CF-9BA6-45EF-96C7-EF818D1ED657}" srcId="{399E00EE-1222-4A70-85AE-F35726993E3C}" destId="{8B699A78-7DC2-4226-935A-05EE29181BB5}" srcOrd="2" destOrd="0" parTransId="{4A3BA3DB-9921-482B-AC93-4DFF2B97C5C9}" sibTransId="{464E83FD-9E55-4778-A005-07D6FCDC8480}"/>
    <dgm:cxn modelId="{196C52D0-8056-4D12-85BC-87E860C524BB}" type="presOf" srcId="{FC72533D-A27E-4BBD-A722-BFA025E12BEC}" destId="{528D4D36-896C-4898-B441-A7BC65441B2C}" srcOrd="0" destOrd="0" presId="urn:microsoft.com/office/officeart/2008/layout/LinedList"/>
    <dgm:cxn modelId="{7E495DEA-C68E-4C68-8D56-8361A03B5C60}" type="presOf" srcId="{8B699A78-7DC2-4226-935A-05EE29181BB5}" destId="{A97F4E10-4660-4526-8396-8DFE138E6E14}" srcOrd="0" destOrd="0" presId="urn:microsoft.com/office/officeart/2008/layout/LinedList"/>
    <dgm:cxn modelId="{5C24ABFB-49CC-4B70-A34D-441CA17158EA}" srcId="{399E00EE-1222-4A70-85AE-F35726993E3C}" destId="{6C561EB0-5BDC-4155-A330-9B5BA8A91335}" srcOrd="4" destOrd="0" parTransId="{1B774F65-408B-44BB-9F5C-F089875AB3C3}" sibTransId="{DB5C130A-F012-4723-8235-7D60B0651678}"/>
    <dgm:cxn modelId="{E0C2EA57-B729-4CF8-AE9B-6A325380B9DF}" type="presParOf" srcId="{E705BABA-0C07-4CB8-81E1-A6ABA95D980F}" destId="{FD5D052C-35C3-4F6F-924C-D5A693CD7B27}" srcOrd="0" destOrd="0" presId="urn:microsoft.com/office/officeart/2008/layout/LinedList"/>
    <dgm:cxn modelId="{44D68D80-9119-48CD-A96D-0A3BAC06797F}" type="presParOf" srcId="{E705BABA-0C07-4CB8-81E1-A6ABA95D980F}" destId="{D827FAE2-9F59-4355-83C0-44D4D43DC2CA}" srcOrd="1" destOrd="0" presId="urn:microsoft.com/office/officeart/2008/layout/LinedList"/>
    <dgm:cxn modelId="{3D7577CF-4F79-4D6F-83CA-7080E5B4F8F2}" type="presParOf" srcId="{D827FAE2-9F59-4355-83C0-44D4D43DC2CA}" destId="{17129C9F-0B24-4DFF-A722-4A9861D20C6A}" srcOrd="0" destOrd="0" presId="urn:microsoft.com/office/officeart/2008/layout/LinedList"/>
    <dgm:cxn modelId="{49B0DF3E-8293-4846-974D-C5A8F498D86C}" type="presParOf" srcId="{D827FAE2-9F59-4355-83C0-44D4D43DC2CA}" destId="{7001463B-C035-4067-AD1C-B40CB45F1A51}" srcOrd="1" destOrd="0" presId="urn:microsoft.com/office/officeart/2008/layout/LinedList"/>
    <dgm:cxn modelId="{A4AC9A47-5CEA-4946-BD4C-D31B6A607940}" type="presParOf" srcId="{E705BABA-0C07-4CB8-81E1-A6ABA95D980F}" destId="{70E4A96C-170C-47D7-942F-7CFEADB25395}" srcOrd="2" destOrd="0" presId="urn:microsoft.com/office/officeart/2008/layout/LinedList"/>
    <dgm:cxn modelId="{43DCF2E4-930E-427A-9321-E0C098F7CA37}" type="presParOf" srcId="{E705BABA-0C07-4CB8-81E1-A6ABA95D980F}" destId="{9751FFCB-78D8-4636-8940-79295F113123}" srcOrd="3" destOrd="0" presId="urn:microsoft.com/office/officeart/2008/layout/LinedList"/>
    <dgm:cxn modelId="{26D7C294-D296-4CE1-A514-BF09A512AEF2}" type="presParOf" srcId="{9751FFCB-78D8-4636-8940-79295F113123}" destId="{F19BB9C4-930C-411A-832D-EFE0D4C7D732}" srcOrd="0" destOrd="0" presId="urn:microsoft.com/office/officeart/2008/layout/LinedList"/>
    <dgm:cxn modelId="{D40147C8-7E79-4F0D-BE46-882469A57A69}" type="presParOf" srcId="{9751FFCB-78D8-4636-8940-79295F113123}" destId="{F28AF672-1D3D-41B6-985F-182757E4E5EC}" srcOrd="1" destOrd="0" presId="urn:microsoft.com/office/officeart/2008/layout/LinedList"/>
    <dgm:cxn modelId="{64EC1885-EB65-469C-B609-A5801BBE924A}" type="presParOf" srcId="{E705BABA-0C07-4CB8-81E1-A6ABA95D980F}" destId="{DD9B3C82-0755-449D-9274-7805BAFE3F0E}" srcOrd="4" destOrd="0" presId="urn:microsoft.com/office/officeart/2008/layout/LinedList"/>
    <dgm:cxn modelId="{92C6E549-1DF5-4514-ADCF-11715C7EC7A4}" type="presParOf" srcId="{E705BABA-0C07-4CB8-81E1-A6ABA95D980F}" destId="{5DA05B02-855B-40DC-9C04-A663CE336535}" srcOrd="5" destOrd="0" presId="urn:microsoft.com/office/officeart/2008/layout/LinedList"/>
    <dgm:cxn modelId="{AA45E4CE-E360-4562-B257-878B2F31E11E}" type="presParOf" srcId="{5DA05B02-855B-40DC-9C04-A663CE336535}" destId="{A97F4E10-4660-4526-8396-8DFE138E6E14}" srcOrd="0" destOrd="0" presId="urn:microsoft.com/office/officeart/2008/layout/LinedList"/>
    <dgm:cxn modelId="{76CE8772-7CA2-446D-AC53-2C96C539F274}" type="presParOf" srcId="{5DA05B02-855B-40DC-9C04-A663CE336535}" destId="{AB264331-1D52-4128-96D8-7FFB76D23121}" srcOrd="1" destOrd="0" presId="urn:microsoft.com/office/officeart/2008/layout/LinedList"/>
    <dgm:cxn modelId="{B36A321C-787D-46C5-AB77-21613330332F}" type="presParOf" srcId="{E705BABA-0C07-4CB8-81E1-A6ABA95D980F}" destId="{E1D3D010-AE75-422E-B570-FF30FB019CCD}" srcOrd="6" destOrd="0" presId="urn:microsoft.com/office/officeart/2008/layout/LinedList"/>
    <dgm:cxn modelId="{1228A51C-AAD4-482E-A0E7-8CB127AC6E7A}" type="presParOf" srcId="{E705BABA-0C07-4CB8-81E1-A6ABA95D980F}" destId="{7161F51D-F2BE-4809-BD5E-3B347C01321C}" srcOrd="7" destOrd="0" presId="urn:microsoft.com/office/officeart/2008/layout/LinedList"/>
    <dgm:cxn modelId="{2E87AD7E-B803-49B8-B308-B78EF2A60A99}" type="presParOf" srcId="{7161F51D-F2BE-4809-BD5E-3B347C01321C}" destId="{1FFD2FF1-6900-4F3A-B1AA-FFBBDD3329E4}" srcOrd="0" destOrd="0" presId="urn:microsoft.com/office/officeart/2008/layout/LinedList"/>
    <dgm:cxn modelId="{E83E4BC5-4860-4972-921C-A409C4E093CD}" type="presParOf" srcId="{7161F51D-F2BE-4809-BD5E-3B347C01321C}" destId="{B91F3283-7028-40CF-B469-EFF75B6B6C7E}" srcOrd="1" destOrd="0" presId="urn:microsoft.com/office/officeart/2008/layout/LinedList"/>
    <dgm:cxn modelId="{BB1DA961-8CF3-4BBB-BB0E-E941B98934BE}" type="presParOf" srcId="{E705BABA-0C07-4CB8-81E1-A6ABA95D980F}" destId="{C9AB70F0-88EA-411B-8DC0-3ECF201B7535}" srcOrd="8" destOrd="0" presId="urn:microsoft.com/office/officeart/2008/layout/LinedList"/>
    <dgm:cxn modelId="{FE989056-13BE-4EC9-8C11-1BD5EBCF2151}" type="presParOf" srcId="{E705BABA-0C07-4CB8-81E1-A6ABA95D980F}" destId="{7221B644-BC31-458B-9F49-79CD64E8A8BB}" srcOrd="9" destOrd="0" presId="urn:microsoft.com/office/officeart/2008/layout/LinedList"/>
    <dgm:cxn modelId="{F9DCD3B8-9DD3-4C5D-A7A1-356586A3456F}" type="presParOf" srcId="{7221B644-BC31-458B-9F49-79CD64E8A8BB}" destId="{1C952B04-017F-47C2-9037-9A9DAADBFCA7}" srcOrd="0" destOrd="0" presId="urn:microsoft.com/office/officeart/2008/layout/LinedList"/>
    <dgm:cxn modelId="{09DCAB11-41BA-4486-885D-976A65487658}" type="presParOf" srcId="{7221B644-BC31-458B-9F49-79CD64E8A8BB}" destId="{C315BFE8-4964-4D00-AFDC-DE337D2E2677}" srcOrd="1" destOrd="0" presId="urn:microsoft.com/office/officeart/2008/layout/LinedList"/>
    <dgm:cxn modelId="{E68A1EA4-72EB-4A82-9714-44F863170641}" type="presParOf" srcId="{E705BABA-0C07-4CB8-81E1-A6ABA95D980F}" destId="{6EADEA48-11AC-4C28-B4C3-63DC4C9EFD4A}" srcOrd="10" destOrd="0" presId="urn:microsoft.com/office/officeart/2008/layout/LinedList"/>
    <dgm:cxn modelId="{5B009E06-EEA1-4A94-9004-3719F369F845}" type="presParOf" srcId="{E705BABA-0C07-4CB8-81E1-A6ABA95D980F}" destId="{25E71C16-B180-464B-8C6F-F9B1FB29D304}" srcOrd="11" destOrd="0" presId="urn:microsoft.com/office/officeart/2008/layout/LinedList"/>
    <dgm:cxn modelId="{F8BEBCC5-5FE6-490D-B072-811B8502BB74}" type="presParOf" srcId="{25E71C16-B180-464B-8C6F-F9B1FB29D304}" destId="{528D4D36-896C-4898-B441-A7BC65441B2C}" srcOrd="0" destOrd="0" presId="urn:microsoft.com/office/officeart/2008/layout/LinedList"/>
    <dgm:cxn modelId="{DA1F92BD-B2AE-422F-8B65-6D07D52B7653}" type="presParOf" srcId="{25E71C16-B180-464B-8C6F-F9B1FB29D304}" destId="{BB97E906-1D96-49F7-B45A-70E5EBDD94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3DF50C-3D50-4FFD-A831-299DD3CFF64F}">
      <dsp:nvSpPr>
        <dsp:cNvPr id="0" name=""/>
        <dsp:cNvSpPr/>
      </dsp:nvSpPr>
      <dsp:spPr>
        <a:xfrm>
          <a:off x="0" y="2389"/>
          <a:ext cx="5575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10354-E0AC-4DD8-8289-31DF3D7D5BC2}">
      <dsp:nvSpPr>
        <dsp:cNvPr id="0" name=""/>
        <dsp:cNvSpPr/>
      </dsp:nvSpPr>
      <dsp:spPr>
        <a:xfrm>
          <a:off x="0" y="2389"/>
          <a:ext cx="5575412" cy="81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4×4 SRAM contains 4 memory locations</a:t>
          </a:r>
        </a:p>
      </dsp:txBody>
      <dsp:txXfrm>
        <a:off x="0" y="2389"/>
        <a:ext cx="5575412" cy="814811"/>
      </dsp:txXfrm>
    </dsp:sp>
    <dsp:sp modelId="{6B12FE43-54B8-4E59-8751-C4D8956E0B58}">
      <dsp:nvSpPr>
        <dsp:cNvPr id="0" name=""/>
        <dsp:cNvSpPr/>
      </dsp:nvSpPr>
      <dsp:spPr>
        <a:xfrm>
          <a:off x="0" y="817200"/>
          <a:ext cx="5575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112DF-9027-4D14-BEB3-841FB4176F43}">
      <dsp:nvSpPr>
        <dsp:cNvPr id="0" name=""/>
        <dsp:cNvSpPr/>
      </dsp:nvSpPr>
      <dsp:spPr>
        <a:xfrm>
          <a:off x="0" y="817200"/>
          <a:ext cx="5575412" cy="81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Each location stores 4-bit data</a:t>
          </a:r>
        </a:p>
      </dsp:txBody>
      <dsp:txXfrm>
        <a:off x="0" y="817200"/>
        <a:ext cx="5575412" cy="814811"/>
      </dsp:txXfrm>
    </dsp:sp>
    <dsp:sp modelId="{7A6745E2-77ED-4E96-8E36-3BAF09448893}">
      <dsp:nvSpPr>
        <dsp:cNvPr id="0" name=""/>
        <dsp:cNvSpPr/>
      </dsp:nvSpPr>
      <dsp:spPr>
        <a:xfrm>
          <a:off x="0" y="1632012"/>
          <a:ext cx="5575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E62A1-1B7B-43A4-A54A-5B432009C18C}">
      <dsp:nvSpPr>
        <dsp:cNvPr id="0" name=""/>
        <dsp:cNvSpPr/>
      </dsp:nvSpPr>
      <dsp:spPr>
        <a:xfrm>
          <a:off x="0" y="1632012"/>
          <a:ext cx="5575412" cy="81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Total storage capacity = 16 bits</a:t>
          </a:r>
        </a:p>
      </dsp:txBody>
      <dsp:txXfrm>
        <a:off x="0" y="1632012"/>
        <a:ext cx="5575412" cy="814811"/>
      </dsp:txXfrm>
    </dsp:sp>
    <dsp:sp modelId="{66393663-DA30-41A1-BF2A-0995FA18A39F}">
      <dsp:nvSpPr>
        <dsp:cNvPr id="0" name=""/>
        <dsp:cNvSpPr/>
      </dsp:nvSpPr>
      <dsp:spPr>
        <a:xfrm>
          <a:off x="0" y="2446823"/>
          <a:ext cx="5575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EE8F2-3453-40B5-A52E-A3B795D48B84}">
      <dsp:nvSpPr>
        <dsp:cNvPr id="0" name=""/>
        <dsp:cNvSpPr/>
      </dsp:nvSpPr>
      <dsp:spPr>
        <a:xfrm>
          <a:off x="0" y="2446823"/>
          <a:ext cx="5575412" cy="81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Address lines select one memory row</a:t>
          </a:r>
        </a:p>
      </dsp:txBody>
      <dsp:txXfrm>
        <a:off x="0" y="2446823"/>
        <a:ext cx="5575412" cy="814811"/>
      </dsp:txXfrm>
    </dsp:sp>
    <dsp:sp modelId="{FE5DC9C2-B9B3-4671-8C0D-4D7DD6CF3945}">
      <dsp:nvSpPr>
        <dsp:cNvPr id="0" name=""/>
        <dsp:cNvSpPr/>
      </dsp:nvSpPr>
      <dsp:spPr>
        <a:xfrm>
          <a:off x="0" y="3261634"/>
          <a:ext cx="5575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29A09-0205-4001-8325-5E6BFDFB9E86}">
      <dsp:nvSpPr>
        <dsp:cNvPr id="0" name=""/>
        <dsp:cNvSpPr/>
      </dsp:nvSpPr>
      <dsp:spPr>
        <a:xfrm>
          <a:off x="0" y="3261634"/>
          <a:ext cx="5575412" cy="81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SRAM performs fast read/write operations</a:t>
          </a:r>
        </a:p>
      </dsp:txBody>
      <dsp:txXfrm>
        <a:off x="0" y="3261634"/>
        <a:ext cx="5575412" cy="814811"/>
      </dsp:txXfrm>
    </dsp:sp>
    <dsp:sp modelId="{AF8015AA-6361-4C2D-9412-EDC2ADDB2645}">
      <dsp:nvSpPr>
        <dsp:cNvPr id="0" name=""/>
        <dsp:cNvSpPr/>
      </dsp:nvSpPr>
      <dsp:spPr>
        <a:xfrm>
          <a:off x="0" y="4076446"/>
          <a:ext cx="5575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B804DB-82E5-45F1-8D02-02B8E51DAF5D}">
      <dsp:nvSpPr>
        <dsp:cNvPr id="0" name=""/>
        <dsp:cNvSpPr/>
      </dsp:nvSpPr>
      <dsp:spPr>
        <a:xfrm>
          <a:off x="0" y="4076446"/>
          <a:ext cx="5575412" cy="81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Used as Data SRAM in cache memory</a:t>
          </a:r>
        </a:p>
      </dsp:txBody>
      <dsp:txXfrm>
        <a:off x="0" y="4076446"/>
        <a:ext cx="5575412" cy="8148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DDEC44-EAAB-42CE-8B38-8917263B9095}">
      <dsp:nvSpPr>
        <dsp:cNvPr id="0" name=""/>
        <dsp:cNvSpPr/>
      </dsp:nvSpPr>
      <dsp:spPr>
        <a:xfrm>
          <a:off x="0" y="2296"/>
          <a:ext cx="51222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C2686-5FE2-4CF0-B44B-2B15D9995C16}">
      <dsp:nvSpPr>
        <dsp:cNvPr id="0" name=""/>
        <dsp:cNvSpPr/>
      </dsp:nvSpPr>
      <dsp:spPr>
        <a:xfrm>
          <a:off x="0" y="2296"/>
          <a:ext cx="5122259" cy="783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Stores cache tag information.</a:t>
          </a:r>
          <a:endParaRPr lang="en-IN" sz="2200" kern="1200"/>
        </a:p>
      </dsp:txBody>
      <dsp:txXfrm>
        <a:off x="0" y="2296"/>
        <a:ext cx="5122259" cy="783118"/>
      </dsp:txXfrm>
    </dsp:sp>
    <dsp:sp modelId="{FF5BF049-3177-4AE7-9CCF-215D85878E95}">
      <dsp:nvSpPr>
        <dsp:cNvPr id="0" name=""/>
        <dsp:cNvSpPr/>
      </dsp:nvSpPr>
      <dsp:spPr>
        <a:xfrm>
          <a:off x="0" y="785414"/>
          <a:ext cx="51222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FDBC2-4E2E-4C2E-8CD1-2775B875F021}">
      <dsp:nvSpPr>
        <dsp:cNvPr id="0" name=""/>
        <dsp:cNvSpPr/>
      </dsp:nvSpPr>
      <dsp:spPr>
        <a:xfrm>
          <a:off x="0" y="785414"/>
          <a:ext cx="5122259" cy="783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Contains 4 memory locations.</a:t>
          </a:r>
          <a:endParaRPr lang="en-IN" sz="2200" kern="1200"/>
        </a:p>
      </dsp:txBody>
      <dsp:txXfrm>
        <a:off x="0" y="785414"/>
        <a:ext cx="5122259" cy="783118"/>
      </dsp:txXfrm>
    </dsp:sp>
    <dsp:sp modelId="{4C60784D-29F3-498A-9637-DBF61FDA2449}">
      <dsp:nvSpPr>
        <dsp:cNvPr id="0" name=""/>
        <dsp:cNvSpPr/>
      </dsp:nvSpPr>
      <dsp:spPr>
        <a:xfrm>
          <a:off x="0" y="1568532"/>
          <a:ext cx="51222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C4520-1E09-464D-8C41-B359577F81F9}">
      <dsp:nvSpPr>
        <dsp:cNvPr id="0" name=""/>
        <dsp:cNvSpPr/>
      </dsp:nvSpPr>
      <dsp:spPr>
        <a:xfrm>
          <a:off x="0" y="1568532"/>
          <a:ext cx="5122259" cy="783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Each location stores 3-bit tag.</a:t>
          </a:r>
          <a:endParaRPr lang="en-IN" sz="2200" kern="1200"/>
        </a:p>
      </dsp:txBody>
      <dsp:txXfrm>
        <a:off x="0" y="1568532"/>
        <a:ext cx="5122259" cy="783118"/>
      </dsp:txXfrm>
    </dsp:sp>
    <dsp:sp modelId="{D342526E-B719-4D11-AA2B-CFFCEEA956A2}">
      <dsp:nvSpPr>
        <dsp:cNvPr id="0" name=""/>
        <dsp:cNvSpPr/>
      </dsp:nvSpPr>
      <dsp:spPr>
        <a:xfrm>
          <a:off x="0" y="2351651"/>
          <a:ext cx="51222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6DCBC-3DA3-4725-8290-0F411CF3C9E8}">
      <dsp:nvSpPr>
        <dsp:cNvPr id="0" name=""/>
        <dsp:cNvSpPr/>
      </dsp:nvSpPr>
      <dsp:spPr>
        <a:xfrm>
          <a:off x="0" y="2351651"/>
          <a:ext cx="5122259" cy="783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Used for cache hit detection.</a:t>
          </a:r>
          <a:endParaRPr lang="en-IN" sz="2200" kern="1200"/>
        </a:p>
      </dsp:txBody>
      <dsp:txXfrm>
        <a:off x="0" y="2351651"/>
        <a:ext cx="5122259" cy="783118"/>
      </dsp:txXfrm>
    </dsp:sp>
    <dsp:sp modelId="{ECDE6A73-8E6F-497B-95C8-4890FCF5D289}">
      <dsp:nvSpPr>
        <dsp:cNvPr id="0" name=""/>
        <dsp:cNvSpPr/>
      </dsp:nvSpPr>
      <dsp:spPr>
        <a:xfrm>
          <a:off x="0" y="3134769"/>
          <a:ext cx="51222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77294-B300-4EF5-94E6-57C1536527BD}">
      <dsp:nvSpPr>
        <dsp:cNvPr id="0" name=""/>
        <dsp:cNvSpPr/>
      </dsp:nvSpPr>
      <dsp:spPr>
        <a:xfrm>
          <a:off x="0" y="3134769"/>
          <a:ext cx="5122259" cy="783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Tag compared with CPU address tag.</a:t>
          </a:r>
          <a:endParaRPr lang="en-IN" sz="2200" kern="1200"/>
        </a:p>
      </dsp:txBody>
      <dsp:txXfrm>
        <a:off x="0" y="3134769"/>
        <a:ext cx="5122259" cy="783118"/>
      </dsp:txXfrm>
    </dsp:sp>
    <dsp:sp modelId="{53C1E0E1-F00C-4016-A074-BDB0A10D5C92}">
      <dsp:nvSpPr>
        <dsp:cNvPr id="0" name=""/>
        <dsp:cNvSpPr/>
      </dsp:nvSpPr>
      <dsp:spPr>
        <a:xfrm>
          <a:off x="0" y="3917887"/>
          <a:ext cx="51222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43635-3DF7-4AE8-872D-4B37A045E076}">
      <dsp:nvSpPr>
        <dsp:cNvPr id="0" name=""/>
        <dsp:cNvSpPr/>
      </dsp:nvSpPr>
      <dsp:spPr>
        <a:xfrm>
          <a:off x="0" y="3917887"/>
          <a:ext cx="5122259" cy="783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Works together with comparator logic.</a:t>
          </a:r>
          <a:endParaRPr lang="en-IN" sz="2200" kern="1200"/>
        </a:p>
      </dsp:txBody>
      <dsp:txXfrm>
        <a:off x="0" y="3917887"/>
        <a:ext cx="5122259" cy="7831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A5FCC6-B2A1-47F6-A5EB-475B33B61F0B}">
      <dsp:nvSpPr>
        <dsp:cNvPr id="0" name=""/>
        <dsp:cNvSpPr/>
      </dsp:nvSpPr>
      <dsp:spPr>
        <a:xfrm>
          <a:off x="0" y="2269"/>
          <a:ext cx="57805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918D4-76F5-43BF-B79D-B7837D47BD10}">
      <dsp:nvSpPr>
        <dsp:cNvPr id="0" name=""/>
        <dsp:cNvSpPr/>
      </dsp:nvSpPr>
      <dsp:spPr>
        <a:xfrm>
          <a:off x="0" y="2269"/>
          <a:ext cx="5780598" cy="773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• Compares CPU tag with stored tag.</a:t>
          </a:r>
          <a:endParaRPr lang="en-US" sz="2500" kern="1200"/>
        </a:p>
      </dsp:txBody>
      <dsp:txXfrm>
        <a:off x="0" y="2269"/>
        <a:ext cx="5780598" cy="773942"/>
      </dsp:txXfrm>
    </dsp:sp>
    <dsp:sp modelId="{22792943-1D83-488D-A04E-DD504E34A3D4}">
      <dsp:nvSpPr>
        <dsp:cNvPr id="0" name=""/>
        <dsp:cNvSpPr/>
      </dsp:nvSpPr>
      <dsp:spPr>
        <a:xfrm>
          <a:off x="0" y="776212"/>
          <a:ext cx="57805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A00E8-A2B4-4C9B-93EC-D110C157B753}">
      <dsp:nvSpPr>
        <dsp:cNvPr id="0" name=""/>
        <dsp:cNvSpPr/>
      </dsp:nvSpPr>
      <dsp:spPr>
        <a:xfrm>
          <a:off x="0" y="776212"/>
          <a:ext cx="5780598" cy="773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• Valid bit checked before comparison.</a:t>
          </a:r>
          <a:endParaRPr lang="en-US" sz="2500" kern="1200"/>
        </a:p>
      </dsp:txBody>
      <dsp:txXfrm>
        <a:off x="0" y="776212"/>
        <a:ext cx="5780598" cy="773942"/>
      </dsp:txXfrm>
    </dsp:sp>
    <dsp:sp modelId="{895C7C62-EFDA-4D95-A460-9A6994F529F2}">
      <dsp:nvSpPr>
        <dsp:cNvPr id="0" name=""/>
        <dsp:cNvSpPr/>
      </dsp:nvSpPr>
      <dsp:spPr>
        <a:xfrm>
          <a:off x="0" y="1550155"/>
          <a:ext cx="57805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6EE0A-797D-4E3D-A5C3-DA5C9312CEF8}">
      <dsp:nvSpPr>
        <dsp:cNvPr id="0" name=""/>
        <dsp:cNvSpPr/>
      </dsp:nvSpPr>
      <dsp:spPr>
        <a:xfrm>
          <a:off x="0" y="1550155"/>
          <a:ext cx="5780598" cy="773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• Matching tags generate cache hit.</a:t>
          </a:r>
          <a:endParaRPr lang="en-US" sz="2500" kern="1200"/>
        </a:p>
      </dsp:txBody>
      <dsp:txXfrm>
        <a:off x="0" y="1550155"/>
        <a:ext cx="5780598" cy="773942"/>
      </dsp:txXfrm>
    </dsp:sp>
    <dsp:sp modelId="{4A1066D8-EA6C-4C19-A317-E9A57EB34F72}">
      <dsp:nvSpPr>
        <dsp:cNvPr id="0" name=""/>
        <dsp:cNvSpPr/>
      </dsp:nvSpPr>
      <dsp:spPr>
        <a:xfrm>
          <a:off x="0" y="2324097"/>
          <a:ext cx="57805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0DE34A-C618-4488-9945-5D8D79D39632}">
      <dsp:nvSpPr>
        <dsp:cNvPr id="0" name=""/>
        <dsp:cNvSpPr/>
      </dsp:nvSpPr>
      <dsp:spPr>
        <a:xfrm>
          <a:off x="0" y="2324098"/>
          <a:ext cx="5780598" cy="773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• Mismatched tags generate cache miss.</a:t>
          </a:r>
          <a:endParaRPr lang="en-US" sz="2500" kern="1200"/>
        </a:p>
      </dsp:txBody>
      <dsp:txXfrm>
        <a:off x="0" y="2324098"/>
        <a:ext cx="5780598" cy="773942"/>
      </dsp:txXfrm>
    </dsp:sp>
    <dsp:sp modelId="{80236B88-590B-4216-B6C4-8E9E23894A5C}">
      <dsp:nvSpPr>
        <dsp:cNvPr id="0" name=""/>
        <dsp:cNvSpPr/>
      </dsp:nvSpPr>
      <dsp:spPr>
        <a:xfrm>
          <a:off x="0" y="3098040"/>
          <a:ext cx="57805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25E170-9128-4FD0-BEDD-0036697C33E2}">
      <dsp:nvSpPr>
        <dsp:cNvPr id="0" name=""/>
        <dsp:cNvSpPr/>
      </dsp:nvSpPr>
      <dsp:spPr>
        <a:xfrm>
          <a:off x="0" y="3098040"/>
          <a:ext cx="5780598" cy="773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• Hit signal enables cache data output.</a:t>
          </a:r>
          <a:endParaRPr lang="en-US" sz="2500" kern="1200"/>
        </a:p>
      </dsp:txBody>
      <dsp:txXfrm>
        <a:off x="0" y="3098040"/>
        <a:ext cx="5780598" cy="773942"/>
      </dsp:txXfrm>
    </dsp:sp>
    <dsp:sp modelId="{6E9575FC-3C3B-404B-8984-ABC25EDA229B}">
      <dsp:nvSpPr>
        <dsp:cNvPr id="0" name=""/>
        <dsp:cNvSpPr/>
      </dsp:nvSpPr>
      <dsp:spPr>
        <a:xfrm>
          <a:off x="0" y="3871983"/>
          <a:ext cx="57805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FADC6E-8513-464C-B0DF-7B112AFDE0E5}">
      <dsp:nvSpPr>
        <dsp:cNvPr id="0" name=""/>
        <dsp:cNvSpPr/>
      </dsp:nvSpPr>
      <dsp:spPr>
        <a:xfrm>
          <a:off x="0" y="3871983"/>
          <a:ext cx="5780598" cy="773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• Core block for cache decision making.</a:t>
          </a:r>
          <a:endParaRPr lang="en-US" sz="2500" kern="1200"/>
        </a:p>
      </dsp:txBody>
      <dsp:txXfrm>
        <a:off x="0" y="3871983"/>
        <a:ext cx="5780598" cy="7739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5E5CEE-4D90-49BF-B332-FB4D6DFB7E12}">
      <dsp:nvSpPr>
        <dsp:cNvPr id="0" name=""/>
        <dsp:cNvSpPr/>
      </dsp:nvSpPr>
      <dsp:spPr>
        <a:xfrm>
          <a:off x="0" y="0"/>
          <a:ext cx="63823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7B5E2-D031-466C-9495-FB8D97C3EBDC}">
      <dsp:nvSpPr>
        <dsp:cNvPr id="0" name=""/>
        <dsp:cNvSpPr/>
      </dsp:nvSpPr>
      <dsp:spPr>
        <a:xfrm>
          <a:off x="0" y="0"/>
          <a:ext cx="6382360" cy="603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Address Split Logic divides the CPU address into tag bits and index bits</a:t>
          </a:r>
        </a:p>
      </dsp:txBody>
      <dsp:txXfrm>
        <a:off x="0" y="0"/>
        <a:ext cx="6382360" cy="603891"/>
      </dsp:txXfrm>
    </dsp:sp>
    <dsp:sp modelId="{4DCAD266-49E9-46BA-B815-30D115A70CD6}">
      <dsp:nvSpPr>
        <dsp:cNvPr id="0" name=""/>
        <dsp:cNvSpPr/>
      </dsp:nvSpPr>
      <dsp:spPr>
        <a:xfrm>
          <a:off x="0" y="603891"/>
          <a:ext cx="63823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00F00-5613-4924-886F-9B0894222BD3}">
      <dsp:nvSpPr>
        <dsp:cNvPr id="0" name=""/>
        <dsp:cNvSpPr/>
      </dsp:nvSpPr>
      <dsp:spPr>
        <a:xfrm>
          <a:off x="0" y="603891"/>
          <a:ext cx="6382360" cy="603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Tag bits are used for cache comparison operations</a:t>
          </a:r>
        </a:p>
      </dsp:txBody>
      <dsp:txXfrm>
        <a:off x="0" y="603891"/>
        <a:ext cx="6382360" cy="603891"/>
      </dsp:txXfrm>
    </dsp:sp>
    <dsp:sp modelId="{DD4ADF43-A80B-4B70-926E-6B30A460F94F}">
      <dsp:nvSpPr>
        <dsp:cNvPr id="0" name=""/>
        <dsp:cNvSpPr/>
      </dsp:nvSpPr>
      <dsp:spPr>
        <a:xfrm>
          <a:off x="0" y="1207782"/>
          <a:ext cx="63823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576C7-B34C-4AD2-8CA5-F9B29F1A86BA}">
      <dsp:nvSpPr>
        <dsp:cNvPr id="0" name=""/>
        <dsp:cNvSpPr/>
      </dsp:nvSpPr>
      <dsp:spPr>
        <a:xfrm>
          <a:off x="0" y="1207782"/>
          <a:ext cx="6382360" cy="603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Index bits select the required cache memory line</a:t>
          </a:r>
        </a:p>
      </dsp:txBody>
      <dsp:txXfrm>
        <a:off x="0" y="1207782"/>
        <a:ext cx="6382360" cy="603891"/>
      </dsp:txXfrm>
    </dsp:sp>
    <dsp:sp modelId="{EFC23C01-1816-4016-B6B5-D0A787ED937A}">
      <dsp:nvSpPr>
        <dsp:cNvPr id="0" name=""/>
        <dsp:cNvSpPr/>
      </dsp:nvSpPr>
      <dsp:spPr>
        <a:xfrm>
          <a:off x="0" y="1811674"/>
          <a:ext cx="63823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BCB1B-9D93-438A-A339-E7A5BD7D5F5A}">
      <dsp:nvSpPr>
        <dsp:cNvPr id="0" name=""/>
        <dsp:cNvSpPr/>
      </dsp:nvSpPr>
      <dsp:spPr>
        <a:xfrm>
          <a:off x="0" y="1811674"/>
          <a:ext cx="6382360" cy="603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Valid Bit Array stores validity information for each cache line</a:t>
          </a:r>
        </a:p>
      </dsp:txBody>
      <dsp:txXfrm>
        <a:off x="0" y="1811674"/>
        <a:ext cx="6382360" cy="603891"/>
      </dsp:txXfrm>
    </dsp:sp>
    <dsp:sp modelId="{5C184770-C421-46EA-9B70-AAFAD566B101}">
      <dsp:nvSpPr>
        <dsp:cNvPr id="0" name=""/>
        <dsp:cNvSpPr/>
      </dsp:nvSpPr>
      <dsp:spPr>
        <a:xfrm>
          <a:off x="0" y="2415565"/>
          <a:ext cx="63823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BCEA8-89EE-4696-A440-454831C2A83E}">
      <dsp:nvSpPr>
        <dsp:cNvPr id="0" name=""/>
        <dsp:cNvSpPr/>
      </dsp:nvSpPr>
      <dsp:spPr>
        <a:xfrm>
          <a:off x="0" y="2415565"/>
          <a:ext cx="6382360" cy="603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Valid bit = 1 indicates valid cache data is present</a:t>
          </a:r>
        </a:p>
      </dsp:txBody>
      <dsp:txXfrm>
        <a:off x="0" y="2415565"/>
        <a:ext cx="6382360" cy="603891"/>
      </dsp:txXfrm>
    </dsp:sp>
    <dsp:sp modelId="{89387871-4C50-4DCE-B26D-6185553DBF97}">
      <dsp:nvSpPr>
        <dsp:cNvPr id="0" name=""/>
        <dsp:cNvSpPr/>
      </dsp:nvSpPr>
      <dsp:spPr>
        <a:xfrm>
          <a:off x="0" y="3019456"/>
          <a:ext cx="63823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C4E1F-2356-4994-8479-C12113B49B18}">
      <dsp:nvSpPr>
        <dsp:cNvPr id="0" name=""/>
        <dsp:cNvSpPr/>
      </dsp:nvSpPr>
      <dsp:spPr>
        <a:xfrm>
          <a:off x="0" y="3019456"/>
          <a:ext cx="6382360" cy="603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Valid bit = 0 indicates cache line is empty or invalid</a:t>
          </a:r>
        </a:p>
      </dsp:txBody>
      <dsp:txXfrm>
        <a:off x="0" y="3019456"/>
        <a:ext cx="6382360" cy="603891"/>
      </dsp:txXfrm>
    </dsp:sp>
    <dsp:sp modelId="{2307C3C8-AB7B-4556-846D-1A30250C11E2}">
      <dsp:nvSpPr>
        <dsp:cNvPr id="0" name=""/>
        <dsp:cNvSpPr/>
      </dsp:nvSpPr>
      <dsp:spPr>
        <a:xfrm>
          <a:off x="0" y="3623348"/>
          <a:ext cx="63823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752B8-4D40-4123-AA6F-16236BDA7688}">
      <dsp:nvSpPr>
        <dsp:cNvPr id="0" name=""/>
        <dsp:cNvSpPr/>
      </dsp:nvSpPr>
      <dsp:spPr>
        <a:xfrm>
          <a:off x="0" y="3623348"/>
          <a:ext cx="6382360" cy="603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Comparator checks both tag match and valid bit status</a:t>
          </a:r>
        </a:p>
      </dsp:txBody>
      <dsp:txXfrm>
        <a:off x="0" y="3623348"/>
        <a:ext cx="6382360" cy="603891"/>
      </dsp:txXfrm>
    </dsp:sp>
    <dsp:sp modelId="{6479976B-D8B7-4716-AC42-657476C59BDF}">
      <dsp:nvSpPr>
        <dsp:cNvPr id="0" name=""/>
        <dsp:cNvSpPr/>
      </dsp:nvSpPr>
      <dsp:spPr>
        <a:xfrm>
          <a:off x="0" y="4227239"/>
          <a:ext cx="63823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A8047-6D60-4DE2-8150-D9649CFF6F80}">
      <dsp:nvSpPr>
        <dsp:cNvPr id="0" name=""/>
        <dsp:cNvSpPr/>
      </dsp:nvSpPr>
      <dsp:spPr>
        <a:xfrm>
          <a:off x="0" y="4227239"/>
          <a:ext cx="6382360" cy="603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Together, these modules enable accurate cache hit/miss detection</a:t>
          </a:r>
        </a:p>
      </dsp:txBody>
      <dsp:txXfrm>
        <a:off x="0" y="4227239"/>
        <a:ext cx="6382360" cy="6038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D052C-35C3-4F6F-924C-D5A693CD7B27}">
      <dsp:nvSpPr>
        <dsp:cNvPr id="0" name=""/>
        <dsp:cNvSpPr/>
      </dsp:nvSpPr>
      <dsp:spPr>
        <a:xfrm>
          <a:off x="0" y="1520"/>
          <a:ext cx="54573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29C9F-0B24-4DFF-A722-4A9861D20C6A}">
      <dsp:nvSpPr>
        <dsp:cNvPr id="0" name=""/>
        <dsp:cNvSpPr/>
      </dsp:nvSpPr>
      <dsp:spPr>
        <a:xfrm>
          <a:off x="0" y="1520"/>
          <a:ext cx="5457385" cy="518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• Integrates all cache datapath modules.</a:t>
          </a:r>
          <a:endParaRPr lang="en-US" sz="2300" kern="1200"/>
        </a:p>
      </dsp:txBody>
      <dsp:txXfrm>
        <a:off x="0" y="1520"/>
        <a:ext cx="5457385" cy="518385"/>
      </dsp:txXfrm>
    </dsp:sp>
    <dsp:sp modelId="{70E4A96C-170C-47D7-942F-7CFEADB25395}">
      <dsp:nvSpPr>
        <dsp:cNvPr id="0" name=""/>
        <dsp:cNvSpPr/>
      </dsp:nvSpPr>
      <dsp:spPr>
        <a:xfrm>
          <a:off x="0" y="519905"/>
          <a:ext cx="54573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9BB9C4-930C-411A-832D-EFE0D4C7D732}">
      <dsp:nvSpPr>
        <dsp:cNvPr id="0" name=""/>
        <dsp:cNvSpPr/>
      </dsp:nvSpPr>
      <dsp:spPr>
        <a:xfrm>
          <a:off x="0" y="519905"/>
          <a:ext cx="5457385" cy="518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• Connects SRAM, tag and valid arrays.</a:t>
          </a:r>
          <a:endParaRPr lang="en-US" sz="2300" kern="1200"/>
        </a:p>
      </dsp:txBody>
      <dsp:txXfrm>
        <a:off x="0" y="519905"/>
        <a:ext cx="5457385" cy="518385"/>
      </dsp:txXfrm>
    </dsp:sp>
    <dsp:sp modelId="{DD9B3C82-0755-449D-9274-7805BAFE3F0E}">
      <dsp:nvSpPr>
        <dsp:cNvPr id="0" name=""/>
        <dsp:cNvSpPr/>
      </dsp:nvSpPr>
      <dsp:spPr>
        <a:xfrm>
          <a:off x="0" y="1038290"/>
          <a:ext cx="54573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F4E10-4660-4526-8396-8DFE138E6E14}">
      <dsp:nvSpPr>
        <dsp:cNvPr id="0" name=""/>
        <dsp:cNvSpPr/>
      </dsp:nvSpPr>
      <dsp:spPr>
        <a:xfrm>
          <a:off x="0" y="1038290"/>
          <a:ext cx="5457385" cy="518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• Performs cache hit/miss detection.</a:t>
          </a:r>
          <a:endParaRPr lang="en-US" sz="2300" kern="1200"/>
        </a:p>
      </dsp:txBody>
      <dsp:txXfrm>
        <a:off x="0" y="1038290"/>
        <a:ext cx="5457385" cy="518385"/>
      </dsp:txXfrm>
    </dsp:sp>
    <dsp:sp modelId="{E1D3D010-AE75-422E-B570-FF30FB019CCD}">
      <dsp:nvSpPr>
        <dsp:cNvPr id="0" name=""/>
        <dsp:cNvSpPr/>
      </dsp:nvSpPr>
      <dsp:spPr>
        <a:xfrm>
          <a:off x="0" y="1556675"/>
          <a:ext cx="54573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D2FF1-6900-4F3A-B1AA-FFBBDD3329E4}">
      <dsp:nvSpPr>
        <dsp:cNvPr id="0" name=""/>
        <dsp:cNvSpPr/>
      </dsp:nvSpPr>
      <dsp:spPr>
        <a:xfrm>
          <a:off x="0" y="1556675"/>
          <a:ext cx="5457385" cy="518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• Controls cache read/write operations.</a:t>
          </a:r>
          <a:endParaRPr lang="en-US" sz="2300" kern="1200"/>
        </a:p>
      </dsp:txBody>
      <dsp:txXfrm>
        <a:off x="0" y="1556675"/>
        <a:ext cx="5457385" cy="518385"/>
      </dsp:txXfrm>
    </dsp:sp>
    <dsp:sp modelId="{C9AB70F0-88EA-411B-8DC0-3ECF201B7535}">
      <dsp:nvSpPr>
        <dsp:cNvPr id="0" name=""/>
        <dsp:cNvSpPr/>
      </dsp:nvSpPr>
      <dsp:spPr>
        <a:xfrm>
          <a:off x="0" y="2075060"/>
          <a:ext cx="54573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52B04-017F-47C2-9037-9A9DAADBFCA7}">
      <dsp:nvSpPr>
        <dsp:cNvPr id="0" name=""/>
        <dsp:cNvSpPr/>
      </dsp:nvSpPr>
      <dsp:spPr>
        <a:xfrm>
          <a:off x="0" y="2075060"/>
          <a:ext cx="5457385" cy="518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• Outputs final cache data to CPU.</a:t>
          </a:r>
          <a:endParaRPr lang="en-US" sz="2300" kern="1200"/>
        </a:p>
      </dsp:txBody>
      <dsp:txXfrm>
        <a:off x="0" y="2075060"/>
        <a:ext cx="5457385" cy="518385"/>
      </dsp:txXfrm>
    </dsp:sp>
    <dsp:sp modelId="{6EADEA48-11AC-4C28-B4C3-63DC4C9EFD4A}">
      <dsp:nvSpPr>
        <dsp:cNvPr id="0" name=""/>
        <dsp:cNvSpPr/>
      </dsp:nvSpPr>
      <dsp:spPr>
        <a:xfrm>
          <a:off x="0" y="2593445"/>
          <a:ext cx="54573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8D4D36-896C-4898-B441-A7BC65441B2C}">
      <dsp:nvSpPr>
        <dsp:cNvPr id="0" name=""/>
        <dsp:cNvSpPr/>
      </dsp:nvSpPr>
      <dsp:spPr>
        <a:xfrm>
          <a:off x="0" y="2593445"/>
          <a:ext cx="5457385" cy="518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• Represents complete cache datapath.</a:t>
          </a:r>
          <a:endParaRPr lang="en-US" sz="2300" kern="1200"/>
        </a:p>
      </dsp:txBody>
      <dsp:txXfrm>
        <a:off x="0" y="2593445"/>
        <a:ext cx="5457385" cy="5183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2588-4A4E-457C-B00A-2FDD76B5053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3A525-C908-4735-B43A-189DF879D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97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2588-4A4E-457C-B00A-2FDD76B5053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3A525-C908-4735-B43A-189DF879D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57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2588-4A4E-457C-B00A-2FDD76B5053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3A525-C908-4735-B43A-189DF879D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86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2588-4A4E-457C-B00A-2FDD76B5053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3A525-C908-4735-B43A-189DF879D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602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2588-4A4E-457C-B00A-2FDD76B5053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3A525-C908-4735-B43A-189DF879D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9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2588-4A4E-457C-B00A-2FDD76B5053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3A525-C908-4735-B43A-189DF879D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99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2588-4A4E-457C-B00A-2FDD76B5053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3A525-C908-4735-B43A-189DF879D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5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2588-4A4E-457C-B00A-2FDD76B5053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3A525-C908-4735-B43A-189DF879D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04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2588-4A4E-457C-B00A-2FDD76B5053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3A525-C908-4735-B43A-189DF879D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36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2588-4A4E-457C-B00A-2FDD76B5053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3A525-C908-4735-B43A-189DF879D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73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2588-4A4E-457C-B00A-2FDD76B5053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3A525-C908-4735-B43A-189DF879D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36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3FA2588-4A4E-457C-B00A-2FDD76B5053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3F3A525-C908-4735-B43A-189DF879D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84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6C260-3821-5D8F-F33F-D00CA0B97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4693" y="0"/>
            <a:ext cx="10156466" cy="2393343"/>
          </a:xfrm>
        </p:spPr>
        <p:txBody>
          <a:bodyPr>
            <a:normAutofit fontScale="90000"/>
          </a:bodyPr>
          <a:lstStyle/>
          <a:p>
            <a:r>
              <a:rPr lang="en-IN" b="1"/>
              <a:t>Design and Implementation of Cache Memory using Verilog HDL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B3218-7476-6F97-4798-0857B5739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926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IN" sz="2800"/>
              <a:t>Akshay Srikrishnan</a:t>
            </a:r>
            <a:br>
              <a:rPr lang="en-IN" sz="2800"/>
            </a:br>
            <a:endParaRPr lang="en-IN" sz="2800"/>
          </a:p>
          <a:p>
            <a:r>
              <a:rPr lang="en-IN" sz="2800">
                <a:solidFill>
                  <a:schemeClr val="bg2">
                    <a:lumMod val="25000"/>
                    <a:lumOff val="75000"/>
                  </a:schemeClr>
                </a:solidFill>
              </a:rPr>
              <a:t>Manipal Institute of Technology, Bengaluru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5B391-9548-C5CB-D17E-67753EDA549D}"/>
              </a:ext>
            </a:extLst>
          </p:cNvPr>
          <p:cNvSpPr txBox="1"/>
          <p:nvPr/>
        </p:nvSpPr>
        <p:spPr>
          <a:xfrm>
            <a:off x="603315" y="4515439"/>
            <a:ext cx="1054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2">
                    <a:lumMod val="25000"/>
                    <a:lumOff val="75000"/>
                  </a:schemeClr>
                </a:solidFill>
              </a:rPr>
              <a:t>           Tool: Xilinx </a:t>
            </a:r>
            <a:r>
              <a:rPr lang="en-IN" err="1">
                <a:solidFill>
                  <a:schemeClr val="bg2">
                    <a:lumMod val="25000"/>
                    <a:lumOff val="75000"/>
                  </a:schemeClr>
                </a:solidFill>
              </a:rPr>
              <a:t>Vivado</a:t>
            </a:r>
            <a:r>
              <a:rPr lang="en-IN"/>
              <a:t>			</a:t>
            </a:r>
            <a:r>
              <a:rPr lang="en-IN">
                <a:solidFill>
                  <a:schemeClr val="bg2">
                    <a:lumMod val="25000"/>
                    <a:lumOff val="75000"/>
                  </a:schemeClr>
                </a:solidFill>
              </a:rPr>
              <a:t>	|</a:t>
            </a:r>
            <a:r>
              <a:rPr lang="en-IN"/>
              <a:t>		</a:t>
            </a:r>
            <a:r>
              <a:rPr lang="en-IN" err="1">
                <a:solidFill>
                  <a:schemeClr val="bg2">
                    <a:lumMod val="25000"/>
                    <a:lumOff val="75000"/>
                  </a:schemeClr>
                </a:solidFill>
              </a:rPr>
              <a:t>Language:Verilog</a:t>
            </a:r>
            <a:r>
              <a:rPr lang="en-IN">
                <a:solidFill>
                  <a:schemeClr val="bg2">
                    <a:lumMod val="25000"/>
                    <a:lumOff val="75000"/>
                  </a:schemeClr>
                </a:solidFill>
              </a:rPr>
              <a:t> HDL  </a:t>
            </a:r>
            <a:r>
              <a:rPr lang="en-IN"/>
              <a:t>	     </a:t>
            </a:r>
            <a:r>
              <a:rPr lang="en-IN">
                <a:solidFill>
                  <a:schemeClr val="bg2">
                    <a:lumMod val="25000"/>
                    <a:lumOff val="75000"/>
                  </a:schemeClr>
                </a:solidFill>
              </a:rPr>
              <a:t>|</a:t>
            </a:r>
            <a:r>
              <a:rPr lang="en-IN"/>
              <a:t>		      </a:t>
            </a:r>
            <a:r>
              <a:rPr lang="en-IN">
                <a:solidFill>
                  <a:schemeClr val="bg2">
                    <a:lumMod val="25000"/>
                    <a:lumOff val="75000"/>
                  </a:schemeClr>
                </a:solidFill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351522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9CBBC-51F6-20E1-89AD-18ECED4B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6279"/>
          </a:xfrm>
        </p:spPr>
        <p:txBody>
          <a:bodyPr>
            <a:normAutofit fontScale="90000"/>
          </a:bodyPr>
          <a:lstStyle/>
          <a:p>
            <a:pPr algn="ctr"/>
            <a:r>
              <a:rPr lang="en-IN"/>
              <a:t>Memory Hierarchy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FDA63B-1D3C-9C4C-DB52-5D1DFF467131}"/>
              </a:ext>
            </a:extLst>
          </p:cNvPr>
          <p:cNvSpPr/>
          <p:nvPr/>
        </p:nvSpPr>
        <p:spPr>
          <a:xfrm>
            <a:off x="838200" y="1484799"/>
            <a:ext cx="2451755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4E2E3-9966-E249-48FB-194B0FCCF144}"/>
              </a:ext>
            </a:extLst>
          </p:cNvPr>
          <p:cNvSpPr txBox="1"/>
          <p:nvPr/>
        </p:nvSpPr>
        <p:spPr>
          <a:xfrm>
            <a:off x="823003" y="1470434"/>
            <a:ext cx="2451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/>
              <a:t>Registers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7F6C2A-0E8C-ABDE-6966-4951E42EEFEF}"/>
              </a:ext>
            </a:extLst>
          </p:cNvPr>
          <p:cNvSpPr/>
          <p:nvPr/>
        </p:nvSpPr>
        <p:spPr>
          <a:xfrm>
            <a:off x="838200" y="2635068"/>
            <a:ext cx="2451756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8128A-F75B-BD13-0462-EC584261D2C4}"/>
              </a:ext>
            </a:extLst>
          </p:cNvPr>
          <p:cNvSpPr txBox="1"/>
          <p:nvPr/>
        </p:nvSpPr>
        <p:spPr>
          <a:xfrm>
            <a:off x="830242" y="2629674"/>
            <a:ext cx="2451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err="1"/>
              <a:t>L1</a:t>
            </a:r>
            <a:r>
              <a:rPr lang="en-IN" sz="2800"/>
              <a:t> Cache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F60520-FA48-5367-F3B2-6919D6AFA2AB}"/>
              </a:ext>
            </a:extLst>
          </p:cNvPr>
          <p:cNvSpPr/>
          <p:nvPr/>
        </p:nvSpPr>
        <p:spPr>
          <a:xfrm>
            <a:off x="830244" y="3751354"/>
            <a:ext cx="2451755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65657E-ED6E-C233-C11A-30217F6452BE}"/>
              </a:ext>
            </a:extLst>
          </p:cNvPr>
          <p:cNvSpPr txBox="1"/>
          <p:nvPr/>
        </p:nvSpPr>
        <p:spPr>
          <a:xfrm>
            <a:off x="838200" y="3745213"/>
            <a:ext cx="2451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err="1"/>
              <a:t>L2</a:t>
            </a:r>
            <a:r>
              <a:rPr lang="en-IN" sz="2800"/>
              <a:t> Cache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77C6E9-C32D-848F-D4AF-CBF88C621D52}"/>
              </a:ext>
            </a:extLst>
          </p:cNvPr>
          <p:cNvSpPr/>
          <p:nvPr/>
        </p:nvSpPr>
        <p:spPr>
          <a:xfrm>
            <a:off x="838200" y="4866380"/>
            <a:ext cx="2451755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417A2D-EDA1-567C-ACCC-609A9A94B0DB}"/>
              </a:ext>
            </a:extLst>
          </p:cNvPr>
          <p:cNvSpPr txBox="1"/>
          <p:nvPr/>
        </p:nvSpPr>
        <p:spPr>
          <a:xfrm>
            <a:off x="830245" y="4805943"/>
            <a:ext cx="2451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/>
              <a:t>Main 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6E96FE-E5B2-7319-449F-2E10EB56B9DF}"/>
              </a:ext>
            </a:extLst>
          </p:cNvPr>
          <p:cNvSpPr/>
          <p:nvPr/>
        </p:nvSpPr>
        <p:spPr>
          <a:xfrm>
            <a:off x="838200" y="5969654"/>
            <a:ext cx="2451756" cy="5232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C48448-EDC6-3ED6-0099-01192914449D}"/>
              </a:ext>
            </a:extLst>
          </p:cNvPr>
          <p:cNvSpPr txBox="1"/>
          <p:nvPr/>
        </p:nvSpPr>
        <p:spPr>
          <a:xfrm>
            <a:off x="838200" y="5955290"/>
            <a:ext cx="2451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/>
              <a:t>Storage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9368CEA7-9096-7FBF-12CD-6CB70CEBBD28}"/>
              </a:ext>
            </a:extLst>
          </p:cNvPr>
          <p:cNvSpPr/>
          <p:nvPr/>
        </p:nvSpPr>
        <p:spPr>
          <a:xfrm>
            <a:off x="1853365" y="5417704"/>
            <a:ext cx="405517" cy="52322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8C9D39-668B-5C61-E67D-79CD4DF615E1}"/>
              </a:ext>
            </a:extLst>
          </p:cNvPr>
          <p:cNvSpPr txBox="1"/>
          <p:nvPr/>
        </p:nvSpPr>
        <p:spPr>
          <a:xfrm>
            <a:off x="4405022" y="1356735"/>
            <a:ext cx="67904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Fastest memory in 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Built using flip-flops.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Very small storage capacity</a:t>
            </a:r>
          </a:p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     Used for immediate CPU operations</a:t>
            </a:r>
            <a:endParaRPr lang="en-IN" sz="1400">
              <a:solidFill>
                <a:schemeClr val="bg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AD05D7C-E219-E8DB-9FFC-5941A43CBCCA}"/>
              </a:ext>
            </a:extLst>
          </p:cNvPr>
          <p:cNvSpPr/>
          <p:nvPr/>
        </p:nvSpPr>
        <p:spPr>
          <a:xfrm>
            <a:off x="1861318" y="4300690"/>
            <a:ext cx="405517" cy="52322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2E0AC4E-001A-A133-E1AE-3C826F38E4E5}"/>
              </a:ext>
            </a:extLst>
          </p:cNvPr>
          <p:cNvSpPr/>
          <p:nvPr/>
        </p:nvSpPr>
        <p:spPr>
          <a:xfrm>
            <a:off x="1853362" y="3200757"/>
            <a:ext cx="405517" cy="52322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20F49C77-6E7C-B9FF-C311-175BA3C50BD7}"/>
              </a:ext>
            </a:extLst>
          </p:cNvPr>
          <p:cNvSpPr/>
          <p:nvPr/>
        </p:nvSpPr>
        <p:spPr>
          <a:xfrm>
            <a:off x="1846123" y="2063984"/>
            <a:ext cx="405517" cy="52322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F2382B-4887-5C94-1FBA-4F423313659F}"/>
              </a:ext>
            </a:extLst>
          </p:cNvPr>
          <p:cNvSpPr txBox="1"/>
          <p:nvPr/>
        </p:nvSpPr>
        <p:spPr>
          <a:xfrm>
            <a:off x="4405022" y="2646174"/>
            <a:ext cx="679041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</a:t>
            </a:r>
            <a:r>
              <a:rPr lang="en-US" sz="1400" err="1">
                <a:solidFill>
                  <a:schemeClr val="bg2">
                    <a:lumMod val="25000"/>
                    <a:lumOff val="75000"/>
                  </a:schemeClr>
                </a:solidFill>
              </a:rPr>
              <a:t>L1</a:t>
            </a:r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 and </a:t>
            </a:r>
            <a:r>
              <a:rPr lang="en-US" sz="1400" err="1">
                <a:solidFill>
                  <a:schemeClr val="bg2">
                    <a:lumMod val="25000"/>
                    <a:lumOff val="75000"/>
                  </a:schemeClr>
                </a:solidFill>
              </a:rPr>
              <a:t>L2</a:t>
            </a:r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 caches are high-speed memory units placed between CPU and main memory</a:t>
            </a:r>
          </a:p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Both caches are built using SRAM technology for faster access time</a:t>
            </a:r>
          </a:p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</a:t>
            </a:r>
            <a:r>
              <a:rPr lang="en-US" sz="1400" err="1">
                <a:solidFill>
                  <a:schemeClr val="bg2">
                    <a:lumMod val="25000"/>
                    <a:lumOff val="75000"/>
                  </a:schemeClr>
                </a:solidFill>
              </a:rPr>
              <a:t>L1</a:t>
            </a:r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 cache is smaller and faster, while </a:t>
            </a:r>
            <a:r>
              <a:rPr lang="en-US" sz="1400" err="1">
                <a:solidFill>
                  <a:schemeClr val="bg2">
                    <a:lumMod val="25000"/>
                    <a:lumOff val="75000"/>
                  </a:schemeClr>
                </a:solidFill>
              </a:rPr>
              <a:t>L2</a:t>
            </a:r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 cache is larger with slightly higher latency</a:t>
            </a:r>
          </a:p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These caches store frequently accessed instructions and data to reduce CPU wait time</a:t>
            </a:r>
          </a:p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Cache memory significantly improves overall system performance by reducing DRAM accesses</a:t>
            </a:r>
            <a:endParaRPr lang="en-IN" sz="1400">
              <a:solidFill>
                <a:schemeClr val="bg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ECE7D2-6298-DAB3-388B-2A007E2F72C2}"/>
              </a:ext>
            </a:extLst>
          </p:cNvPr>
          <p:cNvSpPr txBox="1"/>
          <p:nvPr/>
        </p:nvSpPr>
        <p:spPr>
          <a:xfrm>
            <a:off x="4313072" y="4721256"/>
            <a:ext cx="67904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25000"/>
                    <a:lumOff val="75000"/>
                  </a:schemeClr>
                </a:solidFill>
              </a:rPr>
              <a:t>• </a:t>
            </a:r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Fastest memory in processor</a:t>
            </a:r>
          </a:p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Built using flip-flops</a:t>
            </a:r>
          </a:p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Very small storage capacity</a:t>
            </a:r>
          </a:p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Used for immediate CPU operations</a:t>
            </a:r>
            <a:endParaRPr lang="en-IN" sz="1400">
              <a:solidFill>
                <a:schemeClr val="bg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0CDE6A-5866-136C-CB78-1D4D1B8FAA97}"/>
              </a:ext>
            </a:extLst>
          </p:cNvPr>
          <p:cNvSpPr txBox="1"/>
          <p:nvPr/>
        </p:nvSpPr>
        <p:spPr>
          <a:xfrm>
            <a:off x="4405022" y="5773683"/>
            <a:ext cx="67904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Fastest memory in processor</a:t>
            </a:r>
          </a:p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Built using flip-flops</a:t>
            </a:r>
          </a:p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Very small storage capacity</a:t>
            </a:r>
          </a:p>
          <a:p>
            <a:r>
              <a:rPr lang="en-US" sz="1400">
                <a:solidFill>
                  <a:schemeClr val="bg2">
                    <a:lumMod val="25000"/>
                    <a:lumOff val="75000"/>
                  </a:schemeClr>
                </a:solidFill>
              </a:rPr>
              <a:t>• Used for immediate CPU operations</a:t>
            </a:r>
            <a:endParaRPr lang="en-IN" sz="1400">
              <a:solidFill>
                <a:schemeClr val="bg2">
                  <a:lumMod val="25000"/>
                  <a:lumOff val="75000"/>
                </a:schemeClr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022FD7C-721E-19D2-E0B9-B82A7803FED9}"/>
              </a:ext>
            </a:extLst>
          </p:cNvPr>
          <p:cNvCxnSpPr/>
          <p:nvPr/>
        </p:nvCxnSpPr>
        <p:spPr>
          <a:xfrm>
            <a:off x="3442915" y="1854570"/>
            <a:ext cx="8030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35A9C52-CD78-2022-FD66-49B9768AFD68}"/>
              </a:ext>
            </a:extLst>
          </p:cNvPr>
          <p:cNvCxnSpPr/>
          <p:nvPr/>
        </p:nvCxnSpPr>
        <p:spPr>
          <a:xfrm>
            <a:off x="3509990" y="6277831"/>
            <a:ext cx="8030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6394F4C-5AC6-5449-373B-C36CB0C84C6A}"/>
              </a:ext>
            </a:extLst>
          </p:cNvPr>
          <p:cNvCxnSpPr/>
          <p:nvPr/>
        </p:nvCxnSpPr>
        <p:spPr>
          <a:xfrm>
            <a:off x="3442915" y="3013810"/>
            <a:ext cx="87015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CB2F85D-F9C4-4F21-E3A1-313BF6FBCB67}"/>
              </a:ext>
            </a:extLst>
          </p:cNvPr>
          <p:cNvCxnSpPr/>
          <p:nvPr/>
        </p:nvCxnSpPr>
        <p:spPr>
          <a:xfrm>
            <a:off x="3476452" y="5199621"/>
            <a:ext cx="87015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4405A71-699A-801B-C7FB-EDD29C124EAF}"/>
              </a:ext>
            </a:extLst>
          </p:cNvPr>
          <p:cNvCxnSpPr/>
          <p:nvPr/>
        </p:nvCxnSpPr>
        <p:spPr>
          <a:xfrm>
            <a:off x="3442915" y="4129349"/>
            <a:ext cx="43507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DD13C38-5B7D-2FA1-B209-9A078DD30463}"/>
              </a:ext>
            </a:extLst>
          </p:cNvPr>
          <p:cNvCxnSpPr/>
          <p:nvPr/>
        </p:nvCxnSpPr>
        <p:spPr>
          <a:xfrm flipV="1">
            <a:off x="3877993" y="3013810"/>
            <a:ext cx="0" cy="111553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32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F39C423-36E4-3C1E-EA70-4911393228FC}"/>
              </a:ext>
            </a:extLst>
          </p:cNvPr>
          <p:cNvSpPr/>
          <p:nvPr/>
        </p:nvSpPr>
        <p:spPr>
          <a:xfrm>
            <a:off x="6989197" y="371763"/>
            <a:ext cx="2011679" cy="4850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5BDC95-AEE7-B689-B169-82EE322669C8}"/>
              </a:ext>
            </a:extLst>
          </p:cNvPr>
          <p:cNvSpPr txBox="1"/>
          <p:nvPr/>
        </p:nvSpPr>
        <p:spPr>
          <a:xfrm>
            <a:off x="7211833" y="429209"/>
            <a:ext cx="166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CPU Address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46130A0-824C-61C1-AFBC-E0289B2F5CF9}"/>
              </a:ext>
            </a:extLst>
          </p:cNvPr>
          <p:cNvSpPr/>
          <p:nvPr/>
        </p:nvSpPr>
        <p:spPr>
          <a:xfrm>
            <a:off x="6989197" y="1160267"/>
            <a:ext cx="2011679" cy="4850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FF9F22-E840-3124-13B2-0ECF0C1CACA6}"/>
              </a:ext>
            </a:extLst>
          </p:cNvPr>
          <p:cNvSpPr txBox="1"/>
          <p:nvPr/>
        </p:nvSpPr>
        <p:spPr>
          <a:xfrm>
            <a:off x="7211833" y="1217713"/>
            <a:ext cx="166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Address Split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B0BB5A0-8FD9-D931-1551-CCF9E006677C}"/>
              </a:ext>
            </a:extLst>
          </p:cNvPr>
          <p:cNvSpPr/>
          <p:nvPr/>
        </p:nvSpPr>
        <p:spPr>
          <a:xfrm>
            <a:off x="5819549" y="2369528"/>
            <a:ext cx="1284424" cy="4850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E71BDD-3E8E-8C13-91C4-871A49F3AE58}"/>
              </a:ext>
            </a:extLst>
          </p:cNvPr>
          <p:cNvSpPr txBox="1"/>
          <p:nvPr/>
        </p:nvSpPr>
        <p:spPr>
          <a:xfrm>
            <a:off x="5986527" y="2458154"/>
            <a:ext cx="981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/>
              <a:t>Data SRAM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1D6994E-EE05-4AA3-85A7-A013A4B3E99B}"/>
              </a:ext>
            </a:extLst>
          </p:cNvPr>
          <p:cNvSpPr/>
          <p:nvPr/>
        </p:nvSpPr>
        <p:spPr>
          <a:xfrm>
            <a:off x="7359451" y="2371514"/>
            <a:ext cx="1284424" cy="4850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25130F-0950-5D16-DDF2-3292AF66567F}"/>
              </a:ext>
            </a:extLst>
          </p:cNvPr>
          <p:cNvSpPr txBox="1"/>
          <p:nvPr/>
        </p:nvSpPr>
        <p:spPr>
          <a:xfrm>
            <a:off x="7511125" y="2458154"/>
            <a:ext cx="981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/>
              <a:t>Tag SRAM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C176FA1-E082-11DE-1A59-BF2BCF2F471F}"/>
              </a:ext>
            </a:extLst>
          </p:cNvPr>
          <p:cNvSpPr/>
          <p:nvPr/>
        </p:nvSpPr>
        <p:spPr>
          <a:xfrm>
            <a:off x="8981515" y="2369528"/>
            <a:ext cx="1284424" cy="4850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E5B5BA-B454-A94F-21D9-4CFAE793A9E6}"/>
              </a:ext>
            </a:extLst>
          </p:cNvPr>
          <p:cNvSpPr txBox="1"/>
          <p:nvPr/>
        </p:nvSpPr>
        <p:spPr>
          <a:xfrm>
            <a:off x="9148493" y="2458154"/>
            <a:ext cx="981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/>
              <a:t>Valid Bit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78B8AC-A795-81A1-39A8-AC3212C1C51B}"/>
              </a:ext>
            </a:extLst>
          </p:cNvPr>
          <p:cNvSpPr/>
          <p:nvPr/>
        </p:nvSpPr>
        <p:spPr>
          <a:xfrm>
            <a:off x="5610970" y="1948771"/>
            <a:ext cx="4781385" cy="147631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C418BB1-FDD0-F5FD-3241-D6707D0803B9}"/>
              </a:ext>
            </a:extLst>
          </p:cNvPr>
          <p:cNvCxnSpPr>
            <a:stCxn id="32" idx="2"/>
            <a:endCxn id="34" idx="0"/>
          </p:cNvCxnSpPr>
          <p:nvPr/>
        </p:nvCxnSpPr>
        <p:spPr>
          <a:xfrm>
            <a:off x="7995037" y="856794"/>
            <a:ext cx="0" cy="303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8A44A3E-0999-93D7-4673-C7D338B20FA7}"/>
              </a:ext>
            </a:extLst>
          </p:cNvPr>
          <p:cNvCxnSpPr>
            <a:cxnSpLocks/>
            <a:stCxn id="34" idx="2"/>
            <a:endCxn id="43" idx="0"/>
          </p:cNvCxnSpPr>
          <p:nvPr/>
        </p:nvCxnSpPr>
        <p:spPr>
          <a:xfrm>
            <a:off x="7995037" y="1645298"/>
            <a:ext cx="6626" cy="303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8850F7C-8460-C290-D168-8550FF441DB2}"/>
              </a:ext>
            </a:extLst>
          </p:cNvPr>
          <p:cNvSpPr txBox="1"/>
          <p:nvPr/>
        </p:nvSpPr>
        <p:spPr>
          <a:xfrm>
            <a:off x="7278756" y="1945480"/>
            <a:ext cx="1928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Cache Memory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A42A2B7-4BD8-E0B1-2448-D8CC9E9B57A9}"/>
              </a:ext>
            </a:extLst>
          </p:cNvPr>
          <p:cNvCxnSpPr>
            <a:stCxn id="36" idx="2"/>
            <a:endCxn id="43" idx="2"/>
          </p:cNvCxnSpPr>
          <p:nvPr/>
        </p:nvCxnSpPr>
        <p:spPr>
          <a:xfrm>
            <a:off x="6461761" y="2854559"/>
            <a:ext cx="1539902" cy="570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E823FB8-1CDE-49BD-59A4-4B5387C52D79}"/>
              </a:ext>
            </a:extLst>
          </p:cNvPr>
          <p:cNvCxnSpPr>
            <a:stCxn id="40" idx="2"/>
            <a:endCxn id="43" idx="2"/>
          </p:cNvCxnSpPr>
          <p:nvPr/>
        </p:nvCxnSpPr>
        <p:spPr>
          <a:xfrm flipH="1">
            <a:off x="8001663" y="2854559"/>
            <a:ext cx="1622064" cy="570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3930749-9936-A73C-EBDB-63241D80FEFD}"/>
              </a:ext>
            </a:extLst>
          </p:cNvPr>
          <p:cNvCxnSpPr>
            <a:stCxn id="38" idx="2"/>
            <a:endCxn id="43" idx="2"/>
          </p:cNvCxnSpPr>
          <p:nvPr/>
        </p:nvCxnSpPr>
        <p:spPr>
          <a:xfrm>
            <a:off x="8001663" y="2856545"/>
            <a:ext cx="0" cy="568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9" name="Diamond 58">
            <a:extLst>
              <a:ext uri="{FF2B5EF4-FFF2-40B4-BE49-F238E27FC236}">
                <a16:creationId xmlns:a16="http://schemas.microsoft.com/office/drawing/2014/main" id="{BFF9EE3F-E203-A939-C1FC-E36C3CE4C382}"/>
              </a:ext>
            </a:extLst>
          </p:cNvPr>
          <p:cNvSpPr/>
          <p:nvPr/>
        </p:nvSpPr>
        <p:spPr>
          <a:xfrm>
            <a:off x="6818251" y="3760347"/>
            <a:ext cx="2353569" cy="866692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7A4D479-F882-B9C9-5937-65A6272A7FE6}"/>
              </a:ext>
            </a:extLst>
          </p:cNvPr>
          <p:cNvCxnSpPr>
            <a:stCxn id="43" idx="2"/>
            <a:endCxn id="59" idx="0"/>
          </p:cNvCxnSpPr>
          <p:nvPr/>
        </p:nvCxnSpPr>
        <p:spPr>
          <a:xfrm flipH="1">
            <a:off x="7995036" y="3425084"/>
            <a:ext cx="6627" cy="335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BC35CF8-5C98-7D32-A0E5-60E6FA0EDCE7}"/>
              </a:ext>
            </a:extLst>
          </p:cNvPr>
          <p:cNvSpPr txBox="1"/>
          <p:nvPr/>
        </p:nvSpPr>
        <p:spPr>
          <a:xfrm>
            <a:off x="7278756" y="3993623"/>
            <a:ext cx="1469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rgbClr val="FFC000"/>
                </a:solidFill>
              </a:rPr>
              <a:t>Comparator</a:t>
            </a:r>
          </a:p>
        </p:txBody>
      </p:sp>
      <p:sp>
        <p:nvSpPr>
          <p:cNvPr id="65" name="Diamond 64">
            <a:extLst>
              <a:ext uri="{FF2B5EF4-FFF2-40B4-BE49-F238E27FC236}">
                <a16:creationId xmlns:a16="http://schemas.microsoft.com/office/drawing/2014/main" id="{D11EBB45-86A7-DFDC-4411-0D60407D227A}"/>
              </a:ext>
            </a:extLst>
          </p:cNvPr>
          <p:cNvSpPr/>
          <p:nvPr/>
        </p:nvSpPr>
        <p:spPr>
          <a:xfrm>
            <a:off x="7054135" y="4860315"/>
            <a:ext cx="1881800" cy="63209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1B37B4-741B-2433-0E13-A7FDD0C736F6}"/>
              </a:ext>
            </a:extLst>
          </p:cNvPr>
          <p:cNvSpPr txBox="1"/>
          <p:nvPr/>
        </p:nvSpPr>
        <p:spPr>
          <a:xfrm>
            <a:off x="7597471" y="5022471"/>
            <a:ext cx="1074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Hit/Miss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68F95D8-1328-06E9-4EA7-EBCB373825FC}"/>
              </a:ext>
            </a:extLst>
          </p:cNvPr>
          <p:cNvCxnSpPr>
            <a:stCxn id="59" idx="2"/>
            <a:endCxn id="65" idx="0"/>
          </p:cNvCxnSpPr>
          <p:nvPr/>
        </p:nvCxnSpPr>
        <p:spPr>
          <a:xfrm flipH="1">
            <a:off x="7995035" y="4627039"/>
            <a:ext cx="1" cy="233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655FD7F-6F81-D028-91EE-C94F39E3C295}"/>
              </a:ext>
            </a:extLst>
          </p:cNvPr>
          <p:cNvSpPr/>
          <p:nvPr/>
        </p:nvSpPr>
        <p:spPr>
          <a:xfrm>
            <a:off x="3988904" y="4921869"/>
            <a:ext cx="1622066" cy="4699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21499-6D8B-40C5-2F52-B7ACFE33005B}"/>
              </a:ext>
            </a:extLst>
          </p:cNvPr>
          <p:cNvSpPr txBox="1"/>
          <p:nvPr/>
        </p:nvSpPr>
        <p:spPr>
          <a:xfrm>
            <a:off x="4154550" y="4978777"/>
            <a:ext cx="134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Cache Hit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4539BD0-2E99-3438-367F-C418AA7EC746}"/>
              </a:ext>
            </a:extLst>
          </p:cNvPr>
          <p:cNvSpPr/>
          <p:nvPr/>
        </p:nvSpPr>
        <p:spPr>
          <a:xfrm>
            <a:off x="10392355" y="4945723"/>
            <a:ext cx="1622066" cy="4699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D61510-BF62-BA72-546C-6E18055BDBAF}"/>
              </a:ext>
            </a:extLst>
          </p:cNvPr>
          <p:cNvSpPr txBox="1"/>
          <p:nvPr/>
        </p:nvSpPr>
        <p:spPr>
          <a:xfrm>
            <a:off x="10587161" y="4997810"/>
            <a:ext cx="134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Cache Miss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B9176DE-3CDE-D71B-7A62-0D973CBA1645}"/>
              </a:ext>
            </a:extLst>
          </p:cNvPr>
          <p:cNvCxnSpPr>
            <a:stCxn id="65" idx="3"/>
            <a:endCxn id="71" idx="1"/>
          </p:cNvCxnSpPr>
          <p:nvPr/>
        </p:nvCxnSpPr>
        <p:spPr>
          <a:xfrm>
            <a:off x="8935935" y="5176360"/>
            <a:ext cx="1456420" cy="4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0E2B7E4-F2F8-1430-BC2A-909AE5A92081}"/>
              </a:ext>
            </a:extLst>
          </p:cNvPr>
          <p:cNvCxnSpPr>
            <a:stCxn id="65" idx="1"/>
            <a:endCxn id="69" idx="3"/>
          </p:cNvCxnSpPr>
          <p:nvPr/>
        </p:nvCxnSpPr>
        <p:spPr>
          <a:xfrm flipH="1" flipV="1">
            <a:off x="5610970" y="5156836"/>
            <a:ext cx="1443165" cy="19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8444B4E0-B079-1C71-8ABB-E22EF08A19A2}"/>
              </a:ext>
            </a:extLst>
          </p:cNvPr>
          <p:cNvSpPr/>
          <p:nvPr/>
        </p:nvSpPr>
        <p:spPr>
          <a:xfrm>
            <a:off x="3988904" y="6073963"/>
            <a:ext cx="1622066" cy="4699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EAADFA7-8994-0DDC-E527-71D19F13EA71}"/>
              </a:ext>
            </a:extLst>
          </p:cNvPr>
          <p:cNvSpPr txBox="1"/>
          <p:nvPr/>
        </p:nvSpPr>
        <p:spPr>
          <a:xfrm>
            <a:off x="4154550" y="6124263"/>
            <a:ext cx="1530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Return Data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D22A8EB-FB5F-E48D-4722-060E7DCE9DA7}"/>
              </a:ext>
            </a:extLst>
          </p:cNvPr>
          <p:cNvSpPr/>
          <p:nvPr/>
        </p:nvSpPr>
        <p:spPr>
          <a:xfrm>
            <a:off x="10356977" y="6043070"/>
            <a:ext cx="1677723" cy="5051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72CECC-673B-5999-FD4A-55DE8A57D10A}"/>
              </a:ext>
            </a:extLst>
          </p:cNvPr>
          <p:cNvSpPr txBox="1"/>
          <p:nvPr/>
        </p:nvSpPr>
        <p:spPr>
          <a:xfrm>
            <a:off x="10356977" y="6093371"/>
            <a:ext cx="1804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Fetch from RAM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2B5E1F3-EAED-DA26-4AC5-3A707B3137BC}"/>
              </a:ext>
            </a:extLst>
          </p:cNvPr>
          <p:cNvCxnSpPr>
            <a:cxnSpLocks/>
            <a:stCxn id="69" idx="2"/>
            <a:endCxn id="79" idx="0"/>
          </p:cNvCxnSpPr>
          <p:nvPr/>
        </p:nvCxnSpPr>
        <p:spPr>
          <a:xfrm>
            <a:off x="4799937" y="5391803"/>
            <a:ext cx="0" cy="682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71602CF-4A39-D415-3837-C73752A0A7D1}"/>
              </a:ext>
            </a:extLst>
          </p:cNvPr>
          <p:cNvCxnSpPr>
            <a:cxnSpLocks/>
            <a:stCxn id="71" idx="2"/>
            <a:endCxn id="81" idx="0"/>
          </p:cNvCxnSpPr>
          <p:nvPr/>
        </p:nvCxnSpPr>
        <p:spPr>
          <a:xfrm flipH="1">
            <a:off x="11195839" y="5415657"/>
            <a:ext cx="7549" cy="627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CA0000AA-ACCB-21E0-A487-6A51FDCE3261}"/>
              </a:ext>
            </a:extLst>
          </p:cNvPr>
          <p:cNvSpPr txBox="1"/>
          <p:nvPr/>
        </p:nvSpPr>
        <p:spPr>
          <a:xfrm>
            <a:off x="6099186" y="4802062"/>
            <a:ext cx="557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accent4">
                    <a:lumMod val="40000"/>
                    <a:lumOff val="60000"/>
                  </a:schemeClr>
                </a:solidFill>
              </a:rPr>
              <a:t>Hit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1E17F61-C4AB-3D62-04B0-2DF7FBAFEA70}"/>
              </a:ext>
            </a:extLst>
          </p:cNvPr>
          <p:cNvSpPr txBox="1"/>
          <p:nvPr/>
        </p:nvSpPr>
        <p:spPr>
          <a:xfrm>
            <a:off x="9424160" y="4837805"/>
            <a:ext cx="77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accent4">
                    <a:lumMod val="40000"/>
                    <a:lumOff val="60000"/>
                  </a:schemeClr>
                </a:solidFill>
              </a:rPr>
              <a:t>Miss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7D9717E-B7D1-561C-EDBA-797B6B072531}"/>
              </a:ext>
            </a:extLst>
          </p:cNvPr>
          <p:cNvSpPr txBox="1"/>
          <p:nvPr/>
        </p:nvSpPr>
        <p:spPr>
          <a:xfrm>
            <a:off x="499748" y="1560441"/>
            <a:ext cx="513309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/>
              <a:t>• Address Split → Tag + Index.</a:t>
            </a:r>
          </a:p>
          <a:p>
            <a:endParaRPr lang="en-IN" sz="2000"/>
          </a:p>
          <a:p>
            <a:r>
              <a:rPr lang="en-IN" sz="2000"/>
              <a:t>• SRAM stores cache data.</a:t>
            </a:r>
          </a:p>
          <a:p>
            <a:endParaRPr lang="en-IN" sz="2000"/>
          </a:p>
          <a:p>
            <a:r>
              <a:rPr lang="en-IN" sz="2000"/>
              <a:t>• Comparator performs</a:t>
            </a:r>
          </a:p>
          <a:p>
            <a:r>
              <a:rPr lang="en-IN" sz="2000"/>
              <a:t>   hit/miss detection.</a:t>
            </a:r>
          </a:p>
          <a:p>
            <a:endParaRPr lang="en-IN" sz="2000"/>
          </a:p>
          <a:p>
            <a:r>
              <a:rPr lang="en-IN" sz="2000"/>
              <a:t>• Cache Hit → Fast data access.</a:t>
            </a:r>
          </a:p>
          <a:p>
            <a:endParaRPr lang="en-IN" sz="2000"/>
          </a:p>
          <a:p>
            <a:r>
              <a:rPr lang="en-IN" sz="2000"/>
              <a:t>• Cache Miss → Fetch from RAM.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CD716B4-1B90-C3F7-0A32-74873A992F17}"/>
              </a:ext>
            </a:extLst>
          </p:cNvPr>
          <p:cNvSpPr txBox="1"/>
          <p:nvPr/>
        </p:nvSpPr>
        <p:spPr>
          <a:xfrm>
            <a:off x="494773" y="445273"/>
            <a:ext cx="5003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/>
              <a:t>Cache Memory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47801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C0AA9A-D263-8EF6-1F07-9EF2D1FD52C7}"/>
              </a:ext>
            </a:extLst>
          </p:cNvPr>
          <p:cNvSpPr/>
          <p:nvPr/>
        </p:nvSpPr>
        <p:spPr>
          <a:xfrm>
            <a:off x="0" y="-1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926576-4071-D698-7104-071549B7A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57" y="316603"/>
            <a:ext cx="10515600" cy="641116"/>
          </a:xfrm>
        </p:spPr>
        <p:txBody>
          <a:bodyPr>
            <a:noAutofit/>
          </a:bodyPr>
          <a:lstStyle/>
          <a:p>
            <a:pPr algn="ctr"/>
            <a:r>
              <a:rPr lang="en-IN"/>
              <a:t>Data SRAM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FF8C08-8B39-917D-FFB0-60D811DDE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48255"/>
            <a:ext cx="5998894" cy="3419463"/>
          </a:xfrm>
          <a:prstGeom prst="rect">
            <a:avLst/>
          </a:prstGeom>
        </p:spPr>
      </p:pic>
      <p:graphicFrame>
        <p:nvGraphicFramePr>
          <p:cNvPr id="12" name="TextBox 7">
            <a:extLst>
              <a:ext uri="{FF2B5EF4-FFF2-40B4-BE49-F238E27FC236}">
                <a16:creationId xmlns:a16="http://schemas.microsoft.com/office/drawing/2014/main" id="{D56E311D-AC22-6E4F-ECAD-3DC6ED7339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8077113"/>
              </p:ext>
            </p:extLst>
          </p:nvPr>
        </p:nvGraphicFramePr>
        <p:xfrm>
          <a:off x="208845" y="1596222"/>
          <a:ext cx="5575412" cy="4893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FC8B143-1907-9EA7-F860-74B59F28BCC5}"/>
              </a:ext>
            </a:extLst>
          </p:cNvPr>
          <p:cNvSpPr txBox="1"/>
          <p:nvPr/>
        </p:nvSpPr>
        <p:spPr>
          <a:xfrm>
            <a:off x="6867728" y="5500329"/>
            <a:ext cx="5998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/>
              <a:t>Fig 1. Design of Data SRAM</a:t>
            </a:r>
          </a:p>
        </p:txBody>
      </p:sp>
    </p:spTree>
    <p:extLst>
      <p:ext uri="{BB962C8B-B14F-4D97-AF65-F5344CB8AC3E}">
        <p14:creationId xmlns:p14="http://schemas.microsoft.com/office/powerpoint/2010/main" val="356421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0077F6-25C7-9069-CAD1-AA269D4B0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42" y="1345398"/>
            <a:ext cx="10164594" cy="36962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C0F78FC-4AD5-FAB6-34B5-296D69B74A68}"/>
              </a:ext>
            </a:extLst>
          </p:cNvPr>
          <p:cNvSpPr/>
          <p:nvPr/>
        </p:nvSpPr>
        <p:spPr>
          <a:xfrm>
            <a:off x="0" y="-1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31477F-C9CC-9D56-9C98-76D56540DE78}"/>
              </a:ext>
            </a:extLst>
          </p:cNvPr>
          <p:cNvSpPr txBox="1"/>
          <p:nvPr/>
        </p:nvSpPr>
        <p:spPr>
          <a:xfrm>
            <a:off x="2563588" y="281624"/>
            <a:ext cx="7458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/>
              <a:t>Simulation of </a:t>
            </a:r>
            <a:r>
              <a:rPr lang="en-IN" sz="3200" b="1" err="1"/>
              <a:t>4X4</a:t>
            </a:r>
            <a:r>
              <a:rPr lang="en-IN" sz="3200" b="1"/>
              <a:t> SRAM ( Data SRAM)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7BAE6D-38AF-E31C-9CAD-F83482887C4C}"/>
              </a:ext>
            </a:extLst>
          </p:cNvPr>
          <p:cNvCxnSpPr/>
          <p:nvPr/>
        </p:nvCxnSpPr>
        <p:spPr>
          <a:xfrm>
            <a:off x="2401294" y="3760967"/>
            <a:ext cx="0" cy="1423283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6FB1F4-C07E-BCA2-DEA9-70CB274B3221}"/>
              </a:ext>
            </a:extLst>
          </p:cNvPr>
          <p:cNvSpPr txBox="1"/>
          <p:nvPr/>
        </p:nvSpPr>
        <p:spPr>
          <a:xfrm>
            <a:off x="7750089" y="5184250"/>
            <a:ext cx="2622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/>
              <a:t>Read operation:</a:t>
            </a:r>
          </a:p>
          <a:p>
            <a:r>
              <a:rPr lang="en-US" sz="1600"/>
              <a:t>a) Stored data retrieved from address 00.</a:t>
            </a:r>
          </a:p>
          <a:p>
            <a:r>
              <a:rPr lang="en-US" sz="1600"/>
              <a:t>b) Stored data retrieved from address 01</a:t>
            </a:r>
            <a:endParaRPr lang="en-IN" sz="16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510568-8680-0549-4CE3-8D96F4660B40}"/>
              </a:ext>
            </a:extLst>
          </p:cNvPr>
          <p:cNvCxnSpPr>
            <a:cxnSpLocks/>
          </p:cNvCxnSpPr>
          <p:nvPr/>
        </p:nvCxnSpPr>
        <p:spPr>
          <a:xfrm>
            <a:off x="3857000" y="2584174"/>
            <a:ext cx="0" cy="2743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733E985-6049-DE9E-5B5D-9E3974F760A7}"/>
              </a:ext>
            </a:extLst>
          </p:cNvPr>
          <p:cNvSpPr txBox="1"/>
          <p:nvPr/>
        </p:nvSpPr>
        <p:spPr>
          <a:xfrm>
            <a:off x="3359514" y="5194551"/>
            <a:ext cx="20991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err="1"/>
              <a:t>Addr</a:t>
            </a:r>
            <a:r>
              <a:rPr lang="en-IN" sz="1600"/>
              <a:t>=00</a:t>
            </a:r>
          </a:p>
          <a:p>
            <a:r>
              <a:rPr lang="en-IN" sz="1600"/>
              <a:t>din-1010</a:t>
            </a:r>
          </a:p>
          <a:p>
            <a:r>
              <a:rPr lang="en-IN" sz="1600"/>
              <a:t>we=1</a:t>
            </a:r>
            <a:br>
              <a:rPr lang="en-IN" sz="1600"/>
            </a:br>
            <a:r>
              <a:rPr lang="en-IN" sz="1600" u="sng"/>
              <a:t>Write operation: </a:t>
            </a:r>
            <a:r>
              <a:rPr lang="en-IN" sz="1600"/>
              <a:t>Data 1010 stored into mem location 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4FF9CF-3447-DA0C-9A3D-7F307478DC6B}"/>
              </a:ext>
            </a:extLst>
          </p:cNvPr>
          <p:cNvSpPr txBox="1"/>
          <p:nvPr/>
        </p:nvSpPr>
        <p:spPr>
          <a:xfrm>
            <a:off x="5652760" y="5194551"/>
            <a:ext cx="20991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err="1"/>
              <a:t>Addr</a:t>
            </a:r>
            <a:r>
              <a:rPr lang="en-IN" sz="1600"/>
              <a:t>=01</a:t>
            </a:r>
          </a:p>
          <a:p>
            <a:r>
              <a:rPr lang="en-IN" sz="1600"/>
              <a:t>din-1101</a:t>
            </a:r>
          </a:p>
          <a:p>
            <a:r>
              <a:rPr lang="en-IN" sz="1600"/>
              <a:t>we=1</a:t>
            </a:r>
            <a:br>
              <a:rPr lang="en-IN" sz="1600"/>
            </a:br>
            <a:r>
              <a:rPr lang="en-IN" sz="1600" u="sng"/>
              <a:t>Write operation: </a:t>
            </a:r>
            <a:r>
              <a:rPr lang="en-IN" sz="1600"/>
              <a:t>Data 1101 stored into mem location 01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20DE33-3E18-745A-7AA8-37D72B452D0B}"/>
              </a:ext>
            </a:extLst>
          </p:cNvPr>
          <p:cNvCxnSpPr/>
          <p:nvPr/>
        </p:nvCxnSpPr>
        <p:spPr>
          <a:xfrm>
            <a:off x="5279666" y="3323645"/>
            <a:ext cx="0" cy="2099145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54C5701-6BBA-E77C-6186-A7E0E61B96B4}"/>
              </a:ext>
            </a:extLst>
          </p:cNvPr>
          <p:cNvCxnSpPr/>
          <p:nvPr/>
        </p:nvCxnSpPr>
        <p:spPr>
          <a:xfrm>
            <a:off x="5271715" y="5414838"/>
            <a:ext cx="4214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5020112-6BA5-257B-5340-112DE77896A0}"/>
              </a:ext>
            </a:extLst>
          </p:cNvPr>
          <p:cNvCxnSpPr/>
          <p:nvPr/>
        </p:nvCxnSpPr>
        <p:spPr>
          <a:xfrm>
            <a:off x="7712765" y="3760967"/>
            <a:ext cx="0" cy="1433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61CE7ED-91C8-63F2-AB58-CFA7A5C375EE}"/>
              </a:ext>
            </a:extLst>
          </p:cNvPr>
          <p:cNvCxnSpPr/>
          <p:nvPr/>
        </p:nvCxnSpPr>
        <p:spPr>
          <a:xfrm>
            <a:off x="9924553" y="3755816"/>
            <a:ext cx="0" cy="1433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77DB7FC-687E-8B9D-EA54-2D53AA232BB3}"/>
              </a:ext>
            </a:extLst>
          </p:cNvPr>
          <p:cNvSpPr txBox="1"/>
          <p:nvPr/>
        </p:nvSpPr>
        <p:spPr>
          <a:xfrm>
            <a:off x="1262756" y="5336650"/>
            <a:ext cx="2099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Initial Unknown state(Uninitialized SRAM Contents)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EED4FD-EFF9-93EF-890E-36E08350B3E5}"/>
              </a:ext>
            </a:extLst>
          </p:cNvPr>
          <p:cNvSpPr txBox="1"/>
          <p:nvPr/>
        </p:nvSpPr>
        <p:spPr>
          <a:xfrm>
            <a:off x="7750089" y="3723534"/>
            <a:ext cx="462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a.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AFA468-0613-CC1C-635A-3F9FA6ACC9BF}"/>
              </a:ext>
            </a:extLst>
          </p:cNvPr>
          <p:cNvSpPr txBox="1"/>
          <p:nvPr/>
        </p:nvSpPr>
        <p:spPr>
          <a:xfrm>
            <a:off x="9559500" y="3728671"/>
            <a:ext cx="462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/>
              <a:t>b.</a:t>
            </a:r>
          </a:p>
        </p:txBody>
      </p:sp>
    </p:spTree>
    <p:extLst>
      <p:ext uri="{BB962C8B-B14F-4D97-AF65-F5344CB8AC3E}">
        <p14:creationId xmlns:p14="http://schemas.microsoft.com/office/powerpoint/2010/main" val="4259953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85557C-BBE6-409E-8ED2-3030EB5EBCFA}"/>
              </a:ext>
            </a:extLst>
          </p:cNvPr>
          <p:cNvSpPr/>
          <p:nvPr/>
        </p:nvSpPr>
        <p:spPr>
          <a:xfrm>
            <a:off x="0" y="0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25868-7431-F857-C3A7-BE40218D24B7}"/>
              </a:ext>
            </a:extLst>
          </p:cNvPr>
          <p:cNvSpPr txBox="1"/>
          <p:nvPr/>
        </p:nvSpPr>
        <p:spPr>
          <a:xfrm>
            <a:off x="3466088" y="237401"/>
            <a:ext cx="5259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/>
              <a:t>Tag SRAM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E99F9FB-AFED-8BCE-B6CB-5154B7D456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1462494"/>
              </p:ext>
            </p:extLst>
          </p:nvPr>
        </p:nvGraphicFramePr>
        <p:xfrm>
          <a:off x="267037" y="1594131"/>
          <a:ext cx="5122259" cy="4703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FB2FAC7-A703-7D7F-8DBB-938FB61CDD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7105" y="1473106"/>
            <a:ext cx="5934592" cy="39117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81A2A6-C7B3-558C-4BA5-ABB87A9381C3}"/>
              </a:ext>
            </a:extLst>
          </p:cNvPr>
          <p:cNvSpPr txBox="1"/>
          <p:nvPr/>
        </p:nvSpPr>
        <p:spPr>
          <a:xfrm>
            <a:off x="6867728" y="5500329"/>
            <a:ext cx="5998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/>
              <a:t>Fig 1. Design of Tag SRAM</a:t>
            </a:r>
          </a:p>
        </p:txBody>
      </p:sp>
    </p:spTree>
    <p:extLst>
      <p:ext uri="{BB962C8B-B14F-4D97-AF65-F5344CB8AC3E}">
        <p14:creationId xmlns:p14="http://schemas.microsoft.com/office/powerpoint/2010/main" val="634699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8B58B1-FB62-82EC-84C5-2F46388242DA}"/>
              </a:ext>
            </a:extLst>
          </p:cNvPr>
          <p:cNvSpPr/>
          <p:nvPr/>
        </p:nvSpPr>
        <p:spPr>
          <a:xfrm>
            <a:off x="0" y="0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5649D5-4ACF-E10E-9DF0-C6D2049F8BF7}"/>
              </a:ext>
            </a:extLst>
          </p:cNvPr>
          <p:cNvSpPr txBox="1"/>
          <p:nvPr/>
        </p:nvSpPr>
        <p:spPr>
          <a:xfrm>
            <a:off x="1685295" y="187723"/>
            <a:ext cx="9017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/>
              <a:t>Simulation of </a:t>
            </a:r>
            <a:r>
              <a:rPr lang="en-IN" sz="3600" err="1"/>
              <a:t>4X3</a:t>
            </a:r>
            <a:r>
              <a:rPr lang="en-IN" sz="3600"/>
              <a:t> SRAM (Tag SRAM)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CEE3732-F52E-7E8F-CB97-88C74C031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830" y="1274324"/>
            <a:ext cx="10515600" cy="256810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661D0A1-8596-06C8-E306-E4D686D27F9E}"/>
              </a:ext>
            </a:extLst>
          </p:cNvPr>
          <p:cNvCxnSpPr/>
          <p:nvPr/>
        </p:nvCxnSpPr>
        <p:spPr>
          <a:xfrm>
            <a:off x="2577830" y="3356043"/>
            <a:ext cx="0" cy="758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C643123-DD03-FB20-26A8-B133FABD3E1F}"/>
              </a:ext>
            </a:extLst>
          </p:cNvPr>
          <p:cNvSpPr txBox="1"/>
          <p:nvPr/>
        </p:nvSpPr>
        <p:spPr>
          <a:xfrm>
            <a:off x="1727041" y="4114800"/>
            <a:ext cx="17015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>
                <a:solidFill>
                  <a:srgbClr val="FFC000"/>
                </a:solidFill>
              </a:rPr>
              <a:t>WRITE</a:t>
            </a:r>
          </a:p>
          <a:p>
            <a:r>
              <a:rPr lang="en-US" sz="1400"/>
              <a:t>Initial unknown tag values before write operation.</a:t>
            </a:r>
            <a:endParaRPr lang="en-IN" sz="14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95031B-9B86-417F-A91A-E7271667E68B}"/>
              </a:ext>
            </a:extLst>
          </p:cNvPr>
          <p:cNvCxnSpPr/>
          <p:nvPr/>
        </p:nvCxnSpPr>
        <p:spPr>
          <a:xfrm>
            <a:off x="3554234" y="2949530"/>
            <a:ext cx="0" cy="235358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8E60B7C-60BD-D57C-0D87-83C9C70F297C}"/>
              </a:ext>
            </a:extLst>
          </p:cNvPr>
          <p:cNvCxnSpPr/>
          <p:nvPr/>
        </p:nvCxnSpPr>
        <p:spPr>
          <a:xfrm flipH="1">
            <a:off x="3196426" y="5303116"/>
            <a:ext cx="35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D53D535-C7F8-DA07-EB14-6F2539EBD285}"/>
              </a:ext>
            </a:extLst>
          </p:cNvPr>
          <p:cNvSpPr txBox="1"/>
          <p:nvPr/>
        </p:nvSpPr>
        <p:spPr>
          <a:xfrm>
            <a:off x="1673755" y="5106622"/>
            <a:ext cx="17015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>
                <a:solidFill>
                  <a:srgbClr val="FFC000"/>
                </a:solidFill>
              </a:rPr>
              <a:t>WRITE</a:t>
            </a:r>
          </a:p>
          <a:p>
            <a:r>
              <a:rPr lang="en-US" sz="1400"/>
              <a:t>Tag value 101 written into cache line 00.</a:t>
            </a:r>
            <a:endParaRPr lang="en-IN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4875B7F-0E98-8136-8AA4-676638FDDA9A}"/>
              </a:ext>
            </a:extLst>
          </p:cNvPr>
          <p:cNvCxnSpPr/>
          <p:nvPr/>
        </p:nvCxnSpPr>
        <p:spPr>
          <a:xfrm>
            <a:off x="3840480" y="3356043"/>
            <a:ext cx="246490" cy="758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F8C40DC-7F55-6486-5A4F-01F602F16532}"/>
              </a:ext>
            </a:extLst>
          </p:cNvPr>
          <p:cNvSpPr txBox="1"/>
          <p:nvPr/>
        </p:nvSpPr>
        <p:spPr>
          <a:xfrm>
            <a:off x="3963725" y="4048590"/>
            <a:ext cx="1524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u="sng">
                <a:solidFill>
                  <a:srgbClr val="FFC000"/>
                </a:solidFill>
              </a:rPr>
              <a:t>READ</a:t>
            </a:r>
          </a:p>
          <a:p>
            <a:r>
              <a:rPr lang="en-IN" sz="1400"/>
              <a:t>Stored Tag 101 retrieved for comparison.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7427878-A14F-34C5-A1A0-913DE08C4BF0}"/>
              </a:ext>
            </a:extLst>
          </p:cNvPr>
          <p:cNvCxnSpPr/>
          <p:nvPr/>
        </p:nvCxnSpPr>
        <p:spPr>
          <a:xfrm>
            <a:off x="4572000" y="2949530"/>
            <a:ext cx="0" cy="109906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D720E1-D140-0D98-8494-76D86296E952}"/>
              </a:ext>
            </a:extLst>
          </p:cNvPr>
          <p:cNvCxnSpPr/>
          <p:nvPr/>
        </p:nvCxnSpPr>
        <p:spPr>
          <a:xfrm>
            <a:off x="4572000" y="4048590"/>
            <a:ext cx="91600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8EC6C0-4F48-E076-5EE0-A7816920767E}"/>
              </a:ext>
            </a:extLst>
          </p:cNvPr>
          <p:cNvCxnSpPr/>
          <p:nvPr/>
        </p:nvCxnSpPr>
        <p:spPr>
          <a:xfrm>
            <a:off x="5488005" y="4048590"/>
            <a:ext cx="0" cy="125452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01A7A2C-5FC9-8AFF-443B-21FF04A26574}"/>
              </a:ext>
            </a:extLst>
          </p:cNvPr>
          <p:cNvSpPr txBox="1"/>
          <p:nvPr/>
        </p:nvSpPr>
        <p:spPr>
          <a:xfrm>
            <a:off x="4008644" y="4953731"/>
            <a:ext cx="112671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>
                <a:solidFill>
                  <a:srgbClr val="FFC000"/>
                </a:solidFill>
              </a:rPr>
              <a:t>WRITE</a:t>
            </a:r>
          </a:p>
          <a:p>
            <a:r>
              <a:rPr lang="en-US" sz="1400"/>
              <a:t>Tag value 011 written into cache line 01.</a:t>
            </a:r>
            <a:endParaRPr lang="en-IN" sz="140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A9C37AC-F609-764C-1D4C-68E80D13EE69}"/>
              </a:ext>
            </a:extLst>
          </p:cNvPr>
          <p:cNvCxnSpPr/>
          <p:nvPr/>
        </p:nvCxnSpPr>
        <p:spPr>
          <a:xfrm flipH="1">
            <a:off x="5030002" y="5303116"/>
            <a:ext cx="4580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C8043B7-0A74-E3AD-8DA0-AC0DD2CF4DFE}"/>
              </a:ext>
            </a:extLst>
          </p:cNvPr>
          <p:cNvCxnSpPr/>
          <p:nvPr/>
        </p:nvCxnSpPr>
        <p:spPr>
          <a:xfrm>
            <a:off x="5841035" y="3356043"/>
            <a:ext cx="0" cy="62020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D203F88-3BD7-F81A-19CF-E3CEAFAC553C}"/>
              </a:ext>
            </a:extLst>
          </p:cNvPr>
          <p:cNvCxnSpPr/>
          <p:nvPr/>
        </p:nvCxnSpPr>
        <p:spPr>
          <a:xfrm>
            <a:off x="5841035" y="3912042"/>
            <a:ext cx="0" cy="485029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AFEDCA1-D4B0-8FB7-222B-DDE820AB74CA}"/>
              </a:ext>
            </a:extLst>
          </p:cNvPr>
          <p:cNvCxnSpPr/>
          <p:nvPr/>
        </p:nvCxnSpPr>
        <p:spPr>
          <a:xfrm>
            <a:off x="5841035" y="4397071"/>
            <a:ext cx="4108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C6255A5-B256-2F5C-0758-05F1515489F5}"/>
              </a:ext>
            </a:extLst>
          </p:cNvPr>
          <p:cNvSpPr txBox="1"/>
          <p:nvPr/>
        </p:nvSpPr>
        <p:spPr>
          <a:xfrm>
            <a:off x="6194065" y="4256410"/>
            <a:ext cx="22820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>
                <a:solidFill>
                  <a:srgbClr val="FFC000"/>
                </a:solidFill>
              </a:rPr>
              <a:t>READ</a:t>
            </a:r>
          </a:p>
          <a:p>
            <a:r>
              <a:rPr lang="en-US" sz="1400"/>
              <a:t>Tag value 110 written into cache line 10.</a:t>
            </a:r>
            <a:br>
              <a:rPr lang="en-US" sz="1400"/>
            </a:br>
            <a:endParaRPr lang="en-US" sz="14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/>
              <a:t>Tag successfully read for hit/miss detection.</a:t>
            </a:r>
            <a:endParaRPr lang="en-IN" sz="14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74E1FC-097A-327F-6611-7D94CE4021B3}"/>
              </a:ext>
            </a:extLst>
          </p:cNvPr>
          <p:cNvSpPr txBox="1"/>
          <p:nvPr/>
        </p:nvSpPr>
        <p:spPr>
          <a:xfrm>
            <a:off x="9324229" y="3997470"/>
            <a:ext cx="1749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C000"/>
                </a:solidFill>
              </a:rPr>
              <a:t>WE = 1  </a:t>
            </a:r>
            <a:r>
              <a:rPr lang="en-US" sz="1400"/>
              <a:t>→ Tag write operation.</a:t>
            </a:r>
          </a:p>
          <a:p>
            <a:r>
              <a:rPr lang="en-US" sz="1400">
                <a:solidFill>
                  <a:srgbClr val="FFC000"/>
                </a:solidFill>
              </a:rPr>
              <a:t>WE = 0  </a:t>
            </a:r>
            <a:r>
              <a:rPr lang="en-US" sz="1400"/>
              <a:t>→ Tag read operation.</a:t>
            </a:r>
            <a:endParaRPr lang="en-IN" sz="140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8A6AF80-0899-3ABB-2CEF-5EBDBB8034E4}"/>
              </a:ext>
            </a:extLst>
          </p:cNvPr>
          <p:cNvCxnSpPr/>
          <p:nvPr/>
        </p:nvCxnSpPr>
        <p:spPr>
          <a:xfrm flipH="1">
            <a:off x="10980751" y="2735249"/>
            <a:ext cx="437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D794DF-6FA0-CAF9-6E16-55A69B6804EB}"/>
              </a:ext>
            </a:extLst>
          </p:cNvPr>
          <p:cNvCxnSpPr/>
          <p:nvPr/>
        </p:nvCxnSpPr>
        <p:spPr>
          <a:xfrm>
            <a:off x="11426024" y="2735249"/>
            <a:ext cx="0" cy="166182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D93440E-8505-3522-5249-3092EDB4A547}"/>
              </a:ext>
            </a:extLst>
          </p:cNvPr>
          <p:cNvCxnSpPr/>
          <p:nvPr/>
        </p:nvCxnSpPr>
        <p:spPr>
          <a:xfrm flipH="1">
            <a:off x="10988702" y="4397071"/>
            <a:ext cx="437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BCD9304-AA82-60A0-9BA4-8580644986C4}"/>
              </a:ext>
            </a:extLst>
          </p:cNvPr>
          <p:cNvCxnSpPr/>
          <p:nvPr/>
        </p:nvCxnSpPr>
        <p:spPr>
          <a:xfrm>
            <a:off x="8730532" y="2735249"/>
            <a:ext cx="0" cy="2267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46D8090-3D4E-8E2E-DF37-22658D18C5EF}"/>
              </a:ext>
            </a:extLst>
          </p:cNvPr>
          <p:cNvSpPr txBox="1"/>
          <p:nvPr/>
        </p:nvSpPr>
        <p:spPr>
          <a:xfrm>
            <a:off x="8576806" y="4998899"/>
            <a:ext cx="14948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>
                <a:solidFill>
                  <a:srgbClr val="FFC000"/>
                </a:solidFill>
              </a:rPr>
              <a:t>READ</a:t>
            </a:r>
          </a:p>
          <a:p>
            <a:r>
              <a:rPr lang="en-US" sz="1400" err="1"/>
              <a:t>We:0</a:t>
            </a:r>
            <a:br>
              <a:rPr lang="en-US" sz="1400"/>
            </a:br>
            <a:r>
              <a:rPr lang="en-US" sz="1400"/>
              <a:t>Stored tag 110 retrieved for hit/miss detection.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3169214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3573F36C-A911-2D15-108A-FD1F3AB677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3812006"/>
              </p:ext>
            </p:extLst>
          </p:nvPr>
        </p:nvGraphicFramePr>
        <p:xfrm>
          <a:off x="206734" y="1528767"/>
          <a:ext cx="5780598" cy="4648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F064D13-B0F9-B3A1-7AE8-E8AC8CD4CEEC}"/>
              </a:ext>
            </a:extLst>
          </p:cNvPr>
          <p:cNvSpPr/>
          <p:nvPr/>
        </p:nvSpPr>
        <p:spPr>
          <a:xfrm>
            <a:off x="0" y="-1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741A9-5168-CD2D-8C6C-3001D3145126}"/>
              </a:ext>
            </a:extLst>
          </p:cNvPr>
          <p:cNvSpPr txBox="1"/>
          <p:nvPr/>
        </p:nvSpPr>
        <p:spPr>
          <a:xfrm>
            <a:off x="2349610" y="313995"/>
            <a:ext cx="7275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/>
              <a:t>Comparator/Hit Logic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159ACC-BE75-E843-EE6B-6FAFCC2C2F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528768"/>
            <a:ext cx="6096000" cy="34010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F327B0-9BA2-D3AF-CBC5-35697E968C97}"/>
              </a:ext>
            </a:extLst>
          </p:cNvPr>
          <p:cNvSpPr txBox="1"/>
          <p:nvPr/>
        </p:nvSpPr>
        <p:spPr>
          <a:xfrm>
            <a:off x="6204670" y="5184255"/>
            <a:ext cx="5998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/>
              <a:t>Fig 1. Design of Comparator/Hit Logic</a:t>
            </a:r>
          </a:p>
        </p:txBody>
      </p:sp>
    </p:spTree>
    <p:extLst>
      <p:ext uri="{BB962C8B-B14F-4D97-AF65-F5344CB8AC3E}">
        <p14:creationId xmlns:p14="http://schemas.microsoft.com/office/powerpoint/2010/main" val="3850508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C7CF23-77D4-B2BA-B3BE-2639469C1C38}"/>
              </a:ext>
            </a:extLst>
          </p:cNvPr>
          <p:cNvSpPr/>
          <p:nvPr/>
        </p:nvSpPr>
        <p:spPr>
          <a:xfrm>
            <a:off x="0" y="0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DD1BD-4F47-C792-23D2-8A731795B8BD}"/>
              </a:ext>
            </a:extLst>
          </p:cNvPr>
          <p:cNvSpPr txBox="1"/>
          <p:nvPr/>
        </p:nvSpPr>
        <p:spPr>
          <a:xfrm>
            <a:off x="3082857" y="36997"/>
            <a:ext cx="6026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/>
              <a:t>Simulation of Comparator for Hit or Miss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E71FA9-95BF-7F3A-5A58-C7375D709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35" y="1274323"/>
            <a:ext cx="10136611" cy="287938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0AD4AE-DC38-55E6-2D17-2961962D2805}"/>
              </a:ext>
            </a:extLst>
          </p:cNvPr>
          <p:cNvCxnSpPr/>
          <p:nvPr/>
        </p:nvCxnSpPr>
        <p:spPr>
          <a:xfrm>
            <a:off x="3657600" y="2645923"/>
            <a:ext cx="0" cy="1974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7FFFB3-E97B-B77B-D54A-5035D33B7A91}"/>
              </a:ext>
            </a:extLst>
          </p:cNvPr>
          <p:cNvCxnSpPr/>
          <p:nvPr/>
        </p:nvCxnSpPr>
        <p:spPr>
          <a:xfrm flipH="1">
            <a:off x="3275937" y="4619708"/>
            <a:ext cx="3816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063EADE-465E-E315-9473-A88D9286D2B3}"/>
              </a:ext>
            </a:extLst>
          </p:cNvPr>
          <p:cNvSpPr txBox="1"/>
          <p:nvPr/>
        </p:nvSpPr>
        <p:spPr>
          <a:xfrm>
            <a:off x="1065475" y="4405023"/>
            <a:ext cx="20991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>
                <a:solidFill>
                  <a:srgbClr val="FFC000"/>
                </a:solidFill>
              </a:rPr>
              <a:t>HIT:</a:t>
            </a:r>
          </a:p>
          <a:p>
            <a:r>
              <a:rPr lang="en-US" sz="1400"/>
              <a:t>Matching tag values with valid bit enabled generate cache hit.</a:t>
            </a:r>
            <a:endParaRPr lang="en-IN" sz="14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54BA1EB-A174-D422-0B0B-3F3940345214}"/>
              </a:ext>
            </a:extLst>
          </p:cNvPr>
          <p:cNvCxnSpPr/>
          <p:nvPr/>
        </p:nvCxnSpPr>
        <p:spPr>
          <a:xfrm>
            <a:off x="5597718" y="2645923"/>
            <a:ext cx="0" cy="2029444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4DF7A2-76FE-9D2F-EB44-38EC78858588}"/>
              </a:ext>
            </a:extLst>
          </p:cNvPr>
          <p:cNvCxnSpPr/>
          <p:nvPr/>
        </p:nvCxnSpPr>
        <p:spPr>
          <a:xfrm flipH="1">
            <a:off x="5311471" y="4675367"/>
            <a:ext cx="286247" cy="500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09B066D-21CC-29A6-93E7-24E06D1C344E}"/>
              </a:ext>
            </a:extLst>
          </p:cNvPr>
          <p:cNvSpPr txBox="1"/>
          <p:nvPr/>
        </p:nvSpPr>
        <p:spPr>
          <a:xfrm>
            <a:off x="3586038" y="4850199"/>
            <a:ext cx="1940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>
                <a:solidFill>
                  <a:srgbClr val="FFC000"/>
                </a:solidFill>
              </a:rPr>
              <a:t>MISS:</a:t>
            </a:r>
          </a:p>
          <a:p>
            <a:r>
              <a:rPr lang="en-US" sz="1400"/>
              <a:t>Different tag values result in cache miss.</a:t>
            </a:r>
            <a:endParaRPr lang="en-IN" sz="14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8C6EC41-1BB6-3DE7-6AB0-B2C7DFDF7545}"/>
              </a:ext>
            </a:extLst>
          </p:cNvPr>
          <p:cNvCxnSpPr/>
          <p:nvPr/>
        </p:nvCxnSpPr>
        <p:spPr>
          <a:xfrm>
            <a:off x="6543924" y="2645923"/>
            <a:ext cx="0" cy="3341409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CFB9BA-DFBF-7A50-F3ED-790311E4EE8B}"/>
              </a:ext>
            </a:extLst>
          </p:cNvPr>
          <p:cNvCxnSpPr/>
          <p:nvPr/>
        </p:nvCxnSpPr>
        <p:spPr>
          <a:xfrm flipH="1">
            <a:off x="5868063" y="5971430"/>
            <a:ext cx="6599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FA716BE-DF87-1181-35F0-EC361B13ED1F}"/>
              </a:ext>
            </a:extLst>
          </p:cNvPr>
          <p:cNvSpPr txBox="1"/>
          <p:nvPr/>
        </p:nvSpPr>
        <p:spPr>
          <a:xfrm>
            <a:off x="4158534" y="5677634"/>
            <a:ext cx="18765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Comparator successfully detects matching cache line.</a:t>
            </a:r>
            <a:endParaRPr lang="en-IN" sz="140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E296C9-6F3A-196F-2146-818DAEFDF561}"/>
              </a:ext>
            </a:extLst>
          </p:cNvPr>
          <p:cNvCxnSpPr/>
          <p:nvPr/>
        </p:nvCxnSpPr>
        <p:spPr>
          <a:xfrm>
            <a:off x="8420431" y="2645923"/>
            <a:ext cx="0" cy="188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8D72A84-A68F-B7FC-9665-B3225A1F2003}"/>
              </a:ext>
            </a:extLst>
          </p:cNvPr>
          <p:cNvSpPr txBox="1"/>
          <p:nvPr/>
        </p:nvSpPr>
        <p:spPr>
          <a:xfrm>
            <a:off x="7466271" y="4484536"/>
            <a:ext cx="2170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Cache miss generated due to tag mismatch.</a:t>
            </a:r>
            <a:endParaRPr lang="en-IN" sz="14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1BBC32D-B3C6-DD4B-D94C-27EECFA93CDB}"/>
              </a:ext>
            </a:extLst>
          </p:cNvPr>
          <p:cNvCxnSpPr/>
          <p:nvPr/>
        </p:nvCxnSpPr>
        <p:spPr>
          <a:xfrm>
            <a:off x="3164619" y="3116911"/>
            <a:ext cx="0" cy="2735249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ABA76C9-31D9-C284-D4DD-ADB682AD18A6}"/>
              </a:ext>
            </a:extLst>
          </p:cNvPr>
          <p:cNvCxnSpPr/>
          <p:nvPr/>
        </p:nvCxnSpPr>
        <p:spPr>
          <a:xfrm flipH="1">
            <a:off x="2703443" y="5852160"/>
            <a:ext cx="461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C85E554-B603-63D1-9EDF-EB5DBF0E627C}"/>
              </a:ext>
            </a:extLst>
          </p:cNvPr>
          <p:cNvSpPr txBox="1"/>
          <p:nvPr/>
        </p:nvSpPr>
        <p:spPr>
          <a:xfrm>
            <a:off x="1168839" y="5693537"/>
            <a:ext cx="20037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Valid bit must be enabled for cache hit generation.</a:t>
            </a:r>
            <a:endParaRPr lang="en-IN" sz="140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A60568A-DEFF-3FAD-4A88-571E5C3C515C}"/>
              </a:ext>
            </a:extLst>
          </p:cNvPr>
          <p:cNvSpPr/>
          <p:nvPr/>
        </p:nvSpPr>
        <p:spPr>
          <a:xfrm>
            <a:off x="7839983" y="5488335"/>
            <a:ext cx="2353582" cy="574534"/>
          </a:xfrm>
          <a:prstGeom prst="roundRect">
            <a:avLst/>
          </a:prstGeom>
          <a:solidFill>
            <a:schemeClr val="bg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51C322-E7F2-D21C-2FFF-0BA0DBDE6AF4}"/>
              </a:ext>
            </a:extLst>
          </p:cNvPr>
          <p:cNvSpPr txBox="1"/>
          <p:nvPr/>
        </p:nvSpPr>
        <p:spPr>
          <a:xfrm>
            <a:off x="7839983" y="5007756"/>
            <a:ext cx="47230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/>
              <a:t>Comparator checks whether</a:t>
            </a:r>
            <a:r>
              <a:rPr lang="en-US"/>
              <a:t>:</a:t>
            </a:r>
          </a:p>
          <a:p>
            <a:endParaRPr lang="en-US"/>
          </a:p>
          <a:p>
            <a:r>
              <a:rPr lang="en-US">
                <a:solidFill>
                  <a:srgbClr val="FFC000"/>
                </a:solidFill>
              </a:rPr>
              <a:t>CPU Tag = Stored Tag</a:t>
            </a:r>
          </a:p>
          <a:p>
            <a:endParaRPr lang="en-US"/>
          </a:p>
          <a:p>
            <a:r>
              <a:rPr lang="en-US"/>
              <a:t>If tags match and valid bit = 1,</a:t>
            </a:r>
          </a:p>
          <a:p>
            <a:r>
              <a:rPr lang="en-US"/>
              <a:t>cache hit is generated.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878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4FF57-D289-29B4-5A20-2BBE8D3BD9D9}"/>
              </a:ext>
            </a:extLst>
          </p:cNvPr>
          <p:cNvSpPr/>
          <p:nvPr/>
        </p:nvSpPr>
        <p:spPr>
          <a:xfrm>
            <a:off x="0" y="-1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C9C199-8E0E-98BC-1092-FDFF53E7AA59}"/>
              </a:ext>
            </a:extLst>
          </p:cNvPr>
          <p:cNvSpPr txBox="1"/>
          <p:nvPr/>
        </p:nvSpPr>
        <p:spPr>
          <a:xfrm>
            <a:off x="2025834" y="278431"/>
            <a:ext cx="8523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/>
              <a:t>Valid Bit Array + Address Split Logic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EA1F12-F4C2-CE96-48FC-8198CA494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532" y="1425272"/>
            <a:ext cx="5539296" cy="4403034"/>
          </a:xfrm>
          <a:prstGeom prst="rect">
            <a:avLst/>
          </a:prstGeom>
        </p:spPr>
      </p:pic>
      <p:graphicFrame>
        <p:nvGraphicFramePr>
          <p:cNvPr id="10" name="TextBox 4">
            <a:extLst>
              <a:ext uri="{FF2B5EF4-FFF2-40B4-BE49-F238E27FC236}">
                <a16:creationId xmlns:a16="http://schemas.microsoft.com/office/drawing/2014/main" id="{0B84CA76-DFA9-AF98-479C-E91CA2CB96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8735366"/>
              </p:ext>
            </p:extLst>
          </p:nvPr>
        </p:nvGraphicFramePr>
        <p:xfrm>
          <a:off x="135172" y="1425272"/>
          <a:ext cx="6382360" cy="4831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12EBD3-84E1-D436-DC07-23A736B4BDB4}"/>
              </a:ext>
            </a:extLst>
          </p:cNvPr>
          <p:cNvSpPr txBox="1"/>
          <p:nvPr/>
        </p:nvSpPr>
        <p:spPr>
          <a:xfrm>
            <a:off x="6287733" y="5903893"/>
            <a:ext cx="59988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/>
              <a:t>Fig 1. Valid Bit Array+Address Split Logic</a:t>
            </a:r>
          </a:p>
        </p:txBody>
      </p:sp>
    </p:spTree>
    <p:extLst>
      <p:ext uri="{BB962C8B-B14F-4D97-AF65-F5344CB8AC3E}">
        <p14:creationId xmlns:p14="http://schemas.microsoft.com/office/powerpoint/2010/main" val="2343731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FFD064-D9B9-9F66-6F86-CA4B9DA91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0" y="1292213"/>
            <a:ext cx="10501513" cy="37014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20BF36F-6A95-9F40-6169-C59331DBEC57}"/>
              </a:ext>
            </a:extLst>
          </p:cNvPr>
          <p:cNvSpPr/>
          <p:nvPr/>
        </p:nvSpPr>
        <p:spPr>
          <a:xfrm>
            <a:off x="0" y="-1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7D3B7-F5D4-2450-6977-E038A909398B}"/>
              </a:ext>
            </a:extLst>
          </p:cNvPr>
          <p:cNvSpPr txBox="1"/>
          <p:nvPr/>
        </p:nvSpPr>
        <p:spPr>
          <a:xfrm>
            <a:off x="2185038" y="98552"/>
            <a:ext cx="78219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/>
              <a:t>Simulation of Valid Bit array+Address split logic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89B056-F726-EAC0-1749-AB9214643A20}"/>
              </a:ext>
            </a:extLst>
          </p:cNvPr>
          <p:cNvCxnSpPr/>
          <p:nvPr/>
        </p:nvCxnSpPr>
        <p:spPr>
          <a:xfrm>
            <a:off x="3856383" y="2989690"/>
            <a:ext cx="0" cy="2353587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CEF890-829D-B3C5-2F2B-BEB4E0607228}"/>
              </a:ext>
            </a:extLst>
          </p:cNvPr>
          <p:cNvCxnSpPr/>
          <p:nvPr/>
        </p:nvCxnSpPr>
        <p:spPr>
          <a:xfrm flipH="1">
            <a:off x="3085106" y="5343277"/>
            <a:ext cx="7712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F9BE42C-EBFA-AE9D-4596-3C9D9DA85579}"/>
              </a:ext>
            </a:extLst>
          </p:cNvPr>
          <p:cNvSpPr txBox="1"/>
          <p:nvPr/>
        </p:nvSpPr>
        <p:spPr>
          <a:xfrm>
            <a:off x="1148965" y="5109354"/>
            <a:ext cx="21707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CPU address split into:</a:t>
            </a:r>
          </a:p>
          <a:p>
            <a:r>
              <a:rPr lang="en-US" sz="1400"/>
              <a:t>a)TAG = 101</a:t>
            </a:r>
          </a:p>
          <a:p>
            <a:r>
              <a:rPr lang="en-US" sz="1400"/>
              <a:t>b)INDEX = 00</a:t>
            </a:r>
            <a:endParaRPr lang="en-IN" sz="14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CEA6AC-86C9-6CD4-37CE-C0F5BD2162A6}"/>
              </a:ext>
            </a:extLst>
          </p:cNvPr>
          <p:cNvCxnSpPr/>
          <p:nvPr/>
        </p:nvCxnSpPr>
        <p:spPr>
          <a:xfrm>
            <a:off x="3319669" y="2623930"/>
            <a:ext cx="0" cy="372916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B70036-63C5-0285-231F-DFED98BE69F4}"/>
              </a:ext>
            </a:extLst>
          </p:cNvPr>
          <p:cNvCxnSpPr/>
          <p:nvPr/>
        </p:nvCxnSpPr>
        <p:spPr>
          <a:xfrm flipH="1">
            <a:off x="2886323" y="6361043"/>
            <a:ext cx="4333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321F121-09A5-71CD-7FF2-10D6D1B1475B}"/>
              </a:ext>
            </a:extLst>
          </p:cNvPr>
          <p:cNvSpPr txBox="1"/>
          <p:nvPr/>
        </p:nvSpPr>
        <p:spPr>
          <a:xfrm>
            <a:off x="1148964" y="5805341"/>
            <a:ext cx="1789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>
                <a:solidFill>
                  <a:srgbClr val="FFC000"/>
                </a:solidFill>
              </a:rPr>
              <a:t>   WL = 1</a:t>
            </a:r>
          </a:p>
          <a:p>
            <a:r>
              <a:rPr lang="nl-NL" sz="1400">
                <a:solidFill>
                  <a:srgbClr val="FFC000"/>
                </a:solidFill>
              </a:rPr>
              <a:t>   valid_in = 1</a:t>
            </a:r>
          </a:p>
          <a:p>
            <a:r>
              <a:rPr lang="en-US" sz="1400"/>
              <a:t>Valid bit written into selected cache line</a:t>
            </a:r>
            <a:endParaRPr lang="en-IN" sz="14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E1CAC7B-7307-7F17-B19D-5C9857AB4F4F}"/>
              </a:ext>
            </a:extLst>
          </p:cNvPr>
          <p:cNvCxnSpPr/>
          <p:nvPr/>
        </p:nvCxnSpPr>
        <p:spPr>
          <a:xfrm>
            <a:off x="4023360" y="3562184"/>
            <a:ext cx="0" cy="2878373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C4D6EF4-1B64-72C5-1A10-81E97D4DE372}"/>
              </a:ext>
            </a:extLst>
          </p:cNvPr>
          <p:cNvCxnSpPr/>
          <p:nvPr/>
        </p:nvCxnSpPr>
        <p:spPr>
          <a:xfrm>
            <a:off x="4023360" y="6464410"/>
            <a:ext cx="3737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C8A76CB-7F69-4FBB-2D55-08D3B9D90767}"/>
              </a:ext>
            </a:extLst>
          </p:cNvPr>
          <p:cNvSpPr txBox="1"/>
          <p:nvPr/>
        </p:nvSpPr>
        <p:spPr>
          <a:xfrm>
            <a:off x="4405026" y="5899378"/>
            <a:ext cx="24092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C000"/>
                </a:solidFill>
              </a:rPr>
              <a:t>valid_out = 1</a:t>
            </a:r>
          </a:p>
          <a:p>
            <a:r>
              <a:rPr lang="en-US" sz="1400"/>
              <a:t>Selected cache line contains valid data</a:t>
            </a:r>
            <a:endParaRPr lang="en-IN" sz="14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029CB59-26ED-BD39-3735-FCFF238ABF6C}"/>
              </a:ext>
            </a:extLst>
          </p:cNvPr>
          <p:cNvCxnSpPr/>
          <p:nvPr/>
        </p:nvCxnSpPr>
        <p:spPr>
          <a:xfrm>
            <a:off x="4412977" y="2989689"/>
            <a:ext cx="0" cy="2353587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F3FECF-FC81-30C9-A3E4-F5FA0D3DC6A8}"/>
              </a:ext>
            </a:extLst>
          </p:cNvPr>
          <p:cNvCxnSpPr/>
          <p:nvPr/>
        </p:nvCxnSpPr>
        <p:spPr>
          <a:xfrm>
            <a:off x="4405026" y="5343277"/>
            <a:ext cx="333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ADDA95A-6198-1CE3-AB98-463C8B5F904A}"/>
              </a:ext>
            </a:extLst>
          </p:cNvPr>
          <p:cNvSpPr txBox="1"/>
          <p:nvPr/>
        </p:nvSpPr>
        <p:spPr>
          <a:xfrm>
            <a:off x="4746928" y="5137901"/>
            <a:ext cx="2282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Address split logic extracts tag and index bits</a:t>
            </a:r>
            <a:endParaRPr lang="en-IN" sz="140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85C57F6-E390-22AF-9CA3-F49BA1C786E7}"/>
              </a:ext>
            </a:extLst>
          </p:cNvPr>
          <p:cNvCxnSpPr>
            <a:cxnSpLocks/>
          </p:cNvCxnSpPr>
          <p:nvPr/>
        </p:nvCxnSpPr>
        <p:spPr>
          <a:xfrm>
            <a:off x="9215562" y="2989689"/>
            <a:ext cx="0" cy="240982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A2DE970-7A44-020D-4ABD-99F9CF901F3A}"/>
              </a:ext>
            </a:extLst>
          </p:cNvPr>
          <p:cNvCxnSpPr/>
          <p:nvPr/>
        </p:nvCxnSpPr>
        <p:spPr>
          <a:xfrm flipH="1">
            <a:off x="8937266" y="5399511"/>
            <a:ext cx="2782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501D5C1-1543-8D1C-6447-8322E4DFCB30}"/>
              </a:ext>
            </a:extLst>
          </p:cNvPr>
          <p:cNvSpPr txBox="1"/>
          <p:nvPr/>
        </p:nvSpPr>
        <p:spPr>
          <a:xfrm>
            <a:off x="7374836" y="5196455"/>
            <a:ext cx="15902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C000"/>
                </a:solidFill>
              </a:rPr>
              <a:t>Invalid cache line </a:t>
            </a:r>
            <a:r>
              <a:rPr lang="en-US" sz="1400"/>
              <a:t>detected</a:t>
            </a:r>
          </a:p>
          <a:p>
            <a:r>
              <a:rPr lang="en-US" sz="1400"/>
              <a:t>(valid bit = 0)</a:t>
            </a:r>
            <a:endParaRPr lang="en-IN" sz="1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EDFF0F-1F6B-3C20-AF54-E251C03529FC}"/>
              </a:ext>
            </a:extLst>
          </p:cNvPr>
          <p:cNvSpPr txBox="1"/>
          <p:nvPr/>
        </p:nvSpPr>
        <p:spPr>
          <a:xfrm>
            <a:off x="9366637" y="5196455"/>
            <a:ext cx="26318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Address split logic </a:t>
            </a:r>
            <a:r>
              <a:rPr lang="en-US" sz="1400">
                <a:solidFill>
                  <a:srgbClr val="00B0F0"/>
                </a:solidFill>
              </a:rPr>
              <a:t>divides</a:t>
            </a:r>
            <a:r>
              <a:rPr lang="en-US" sz="1400"/>
              <a:t> the CPU address into </a:t>
            </a:r>
            <a:r>
              <a:rPr lang="en-US" sz="1400">
                <a:solidFill>
                  <a:srgbClr val="FFFF00"/>
                </a:solidFill>
              </a:rPr>
              <a:t>tag </a:t>
            </a:r>
            <a:r>
              <a:rPr lang="en-US" sz="1400"/>
              <a:t>and </a:t>
            </a:r>
            <a:r>
              <a:rPr lang="en-US" sz="1400">
                <a:solidFill>
                  <a:srgbClr val="FFFF00"/>
                </a:solidFill>
              </a:rPr>
              <a:t>index</a:t>
            </a:r>
            <a:r>
              <a:rPr lang="en-US" sz="1400"/>
              <a:t> </a:t>
            </a:r>
            <a:r>
              <a:rPr lang="en-US" sz="1400">
                <a:solidFill>
                  <a:srgbClr val="FFFF00"/>
                </a:solidFill>
              </a:rPr>
              <a:t>bits. </a:t>
            </a:r>
          </a:p>
          <a:p>
            <a:r>
              <a:rPr lang="en-US" sz="1400"/>
              <a:t>The valid bit array verifies whether the </a:t>
            </a:r>
            <a:r>
              <a:rPr lang="en-US" sz="1400">
                <a:solidFill>
                  <a:srgbClr val="FFFF00"/>
                </a:solidFill>
              </a:rPr>
              <a:t>selected cache line contains usable </a:t>
            </a:r>
            <a:r>
              <a:rPr lang="en-US" sz="1400"/>
              <a:t>cache data.</a:t>
            </a:r>
            <a:endParaRPr lang="en-IN" sz="140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D537156-2F0D-4734-8722-503F3010F415}"/>
              </a:ext>
            </a:extLst>
          </p:cNvPr>
          <p:cNvCxnSpPr/>
          <p:nvPr/>
        </p:nvCxnSpPr>
        <p:spPr>
          <a:xfrm>
            <a:off x="10487770" y="2623930"/>
            <a:ext cx="564543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423CEAC-98B5-FF51-4B2D-298F5FBCA3D4}"/>
              </a:ext>
            </a:extLst>
          </p:cNvPr>
          <p:cNvSpPr txBox="1"/>
          <p:nvPr/>
        </p:nvSpPr>
        <p:spPr>
          <a:xfrm>
            <a:off x="10766066" y="2989689"/>
            <a:ext cx="12965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C000"/>
                </a:solidFill>
              </a:rPr>
              <a:t>WL = 1 </a:t>
            </a:r>
            <a:r>
              <a:rPr lang="en-US" sz="1400"/>
              <a:t>→ Valid bit write operation</a:t>
            </a:r>
          </a:p>
          <a:p>
            <a:r>
              <a:rPr lang="en-US" sz="1400">
                <a:solidFill>
                  <a:srgbClr val="FFC000"/>
                </a:solidFill>
              </a:rPr>
              <a:t>WL = 0 </a:t>
            </a:r>
            <a:r>
              <a:rPr lang="en-US" sz="1400"/>
              <a:t>→ Valid bit read operation</a:t>
            </a:r>
            <a:endParaRPr lang="en-IN" sz="140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F7E7BF3-D5AA-C96A-34B0-54886A740381}"/>
              </a:ext>
            </a:extLst>
          </p:cNvPr>
          <p:cNvCxnSpPr/>
          <p:nvPr/>
        </p:nvCxnSpPr>
        <p:spPr>
          <a:xfrm>
            <a:off x="11052313" y="2623930"/>
            <a:ext cx="0" cy="365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858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26B042-5682-5D5D-6FD4-569A55DF8A9B}"/>
              </a:ext>
            </a:extLst>
          </p:cNvPr>
          <p:cNvSpPr/>
          <p:nvPr/>
        </p:nvSpPr>
        <p:spPr>
          <a:xfrm>
            <a:off x="0" y="-1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9D2FA-CE29-FCEF-8CE5-A4FB43952EA1}"/>
              </a:ext>
            </a:extLst>
          </p:cNvPr>
          <p:cNvSpPr txBox="1"/>
          <p:nvPr/>
        </p:nvSpPr>
        <p:spPr>
          <a:xfrm>
            <a:off x="2323106" y="222637"/>
            <a:ext cx="754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/>
              <a:t>Cache Top Module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2C7E79-708F-FFF8-8676-64B36F42B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314" y="1274323"/>
            <a:ext cx="6559685" cy="3335989"/>
          </a:xfrm>
          <a:prstGeom prst="rect">
            <a:avLst/>
          </a:prstGeom>
        </p:spPr>
      </p:pic>
      <p:graphicFrame>
        <p:nvGraphicFramePr>
          <p:cNvPr id="10" name="TextBox 5">
            <a:extLst>
              <a:ext uri="{FF2B5EF4-FFF2-40B4-BE49-F238E27FC236}">
                <a16:creationId xmlns:a16="http://schemas.microsoft.com/office/drawing/2014/main" id="{4A564B9C-58C7-DF08-464D-0B86B5910C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6089784"/>
              </p:ext>
            </p:extLst>
          </p:nvPr>
        </p:nvGraphicFramePr>
        <p:xfrm>
          <a:off x="174929" y="1496961"/>
          <a:ext cx="5457385" cy="3113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49AFA7BA-9E72-0028-01F6-BB5806F02FD7}"/>
              </a:ext>
            </a:extLst>
          </p:cNvPr>
          <p:cNvSpPr/>
          <p:nvPr/>
        </p:nvSpPr>
        <p:spPr>
          <a:xfrm>
            <a:off x="84813" y="5639519"/>
            <a:ext cx="1526651" cy="74742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AB8634-F54D-2CD6-B7CE-E3F4A2CB65A2}"/>
              </a:ext>
            </a:extLst>
          </p:cNvPr>
          <p:cNvSpPr txBox="1"/>
          <p:nvPr/>
        </p:nvSpPr>
        <p:spPr>
          <a:xfrm>
            <a:off x="188180" y="5838302"/>
            <a:ext cx="1423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CPU Address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20DE39-5592-EA43-14B4-FF6A747A0DA8}"/>
              </a:ext>
            </a:extLst>
          </p:cNvPr>
          <p:cNvSpPr/>
          <p:nvPr/>
        </p:nvSpPr>
        <p:spPr>
          <a:xfrm>
            <a:off x="2129623" y="5639519"/>
            <a:ext cx="1526651" cy="74742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413647-92D2-CD8B-E8FE-8D17C99C9EBE}"/>
              </a:ext>
            </a:extLst>
          </p:cNvPr>
          <p:cNvSpPr txBox="1"/>
          <p:nvPr/>
        </p:nvSpPr>
        <p:spPr>
          <a:xfrm>
            <a:off x="2232990" y="5838302"/>
            <a:ext cx="1423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/>
              <a:t>Address Split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420E708-C80F-3D69-32F7-1605ED0103F1}"/>
              </a:ext>
            </a:extLst>
          </p:cNvPr>
          <p:cNvSpPr/>
          <p:nvPr/>
        </p:nvSpPr>
        <p:spPr>
          <a:xfrm>
            <a:off x="4374541" y="5639519"/>
            <a:ext cx="1526651" cy="74742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7133C1-108C-C893-1CA3-184D00D4EC58}"/>
              </a:ext>
            </a:extLst>
          </p:cNvPr>
          <p:cNvSpPr txBox="1"/>
          <p:nvPr/>
        </p:nvSpPr>
        <p:spPr>
          <a:xfrm>
            <a:off x="4439477" y="5715191"/>
            <a:ext cx="1423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/>
              <a:t>Cache Mem Access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07F795C-996E-1353-FC87-2B29E8989BB7}"/>
              </a:ext>
            </a:extLst>
          </p:cNvPr>
          <p:cNvSpPr/>
          <p:nvPr/>
        </p:nvSpPr>
        <p:spPr>
          <a:xfrm>
            <a:off x="6522719" y="5639519"/>
            <a:ext cx="1526651" cy="74742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EDC9CD-FC40-2E78-B43E-35F0DD1EC02B}"/>
              </a:ext>
            </a:extLst>
          </p:cNvPr>
          <p:cNvSpPr txBox="1"/>
          <p:nvPr/>
        </p:nvSpPr>
        <p:spPr>
          <a:xfrm>
            <a:off x="6626086" y="5838302"/>
            <a:ext cx="1423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/>
              <a:t>Comparator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2C7D2B6-F1F8-8879-1B1E-D088E9C009A0}"/>
              </a:ext>
            </a:extLst>
          </p:cNvPr>
          <p:cNvSpPr/>
          <p:nvPr/>
        </p:nvSpPr>
        <p:spPr>
          <a:xfrm>
            <a:off x="8670897" y="5639519"/>
            <a:ext cx="1526651" cy="74742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9D36D7-74B8-F2D1-9803-D0B11887408D}"/>
              </a:ext>
            </a:extLst>
          </p:cNvPr>
          <p:cNvSpPr txBox="1"/>
          <p:nvPr/>
        </p:nvSpPr>
        <p:spPr>
          <a:xfrm>
            <a:off x="8774264" y="5838302"/>
            <a:ext cx="1423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/>
              <a:t>H/M Logic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89C0114-3561-E8E3-D612-017733AAE6F6}"/>
              </a:ext>
            </a:extLst>
          </p:cNvPr>
          <p:cNvSpPr/>
          <p:nvPr/>
        </p:nvSpPr>
        <p:spPr>
          <a:xfrm>
            <a:off x="10580536" y="5639519"/>
            <a:ext cx="1526651" cy="74742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9468B3-6831-6EC8-5031-22BDD14C7E25}"/>
              </a:ext>
            </a:extLst>
          </p:cNvPr>
          <p:cNvSpPr txBox="1"/>
          <p:nvPr/>
        </p:nvSpPr>
        <p:spPr>
          <a:xfrm>
            <a:off x="10683903" y="5838302"/>
            <a:ext cx="1423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/>
              <a:t>Cache Output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0D8288-3500-5AF1-DE70-C9C5B91DB721}"/>
              </a:ext>
            </a:extLst>
          </p:cNvPr>
          <p:cNvCxnSpPr>
            <a:stCxn id="11" idx="3"/>
            <a:endCxn id="12" idx="2"/>
          </p:cNvCxnSpPr>
          <p:nvPr/>
        </p:nvCxnSpPr>
        <p:spPr>
          <a:xfrm>
            <a:off x="1611464" y="6007579"/>
            <a:ext cx="518159" cy="5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FBC9253-102C-54E9-1C8D-1E18DBA17EC3}"/>
              </a:ext>
            </a:extLst>
          </p:cNvPr>
          <p:cNvCxnSpPr>
            <a:stCxn id="19" idx="3"/>
            <a:endCxn id="20" idx="2"/>
          </p:cNvCxnSpPr>
          <p:nvPr/>
        </p:nvCxnSpPr>
        <p:spPr>
          <a:xfrm>
            <a:off x="10197548" y="6007579"/>
            <a:ext cx="382988" cy="5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BA45ED-0F94-7F07-D87D-2C2E68C3E335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>
          <a:xfrm>
            <a:off x="3656274" y="6013231"/>
            <a:ext cx="7182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0000C22-DDD4-C85F-311C-C4CA55881012}"/>
              </a:ext>
            </a:extLst>
          </p:cNvPr>
          <p:cNvCxnSpPr>
            <a:stCxn id="15" idx="3"/>
            <a:endCxn id="16" idx="2"/>
          </p:cNvCxnSpPr>
          <p:nvPr/>
        </p:nvCxnSpPr>
        <p:spPr>
          <a:xfrm>
            <a:off x="5862761" y="6007579"/>
            <a:ext cx="659958" cy="5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E2F051-17E5-B344-3076-78926686989B}"/>
              </a:ext>
            </a:extLst>
          </p:cNvPr>
          <p:cNvCxnSpPr>
            <a:stCxn id="17" idx="3"/>
            <a:endCxn id="18" idx="2"/>
          </p:cNvCxnSpPr>
          <p:nvPr/>
        </p:nvCxnSpPr>
        <p:spPr>
          <a:xfrm>
            <a:off x="8049370" y="6007579"/>
            <a:ext cx="621527" cy="5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2F2D476-47B6-147C-8661-C46E5F44D8B4}"/>
              </a:ext>
            </a:extLst>
          </p:cNvPr>
          <p:cNvSpPr/>
          <p:nvPr/>
        </p:nvSpPr>
        <p:spPr>
          <a:xfrm>
            <a:off x="413468" y="4826442"/>
            <a:ext cx="2536466" cy="6324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716B0-D253-B645-BB2E-CFC3091D336E}"/>
              </a:ext>
            </a:extLst>
          </p:cNvPr>
          <p:cNvSpPr txBox="1"/>
          <p:nvPr/>
        </p:nvSpPr>
        <p:spPr>
          <a:xfrm>
            <a:off x="514184" y="4896475"/>
            <a:ext cx="3617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/>
              <a:t>Cache Top Flow:</a:t>
            </a:r>
          </a:p>
        </p:txBody>
      </p:sp>
    </p:spTree>
    <p:extLst>
      <p:ext uri="{BB962C8B-B14F-4D97-AF65-F5344CB8AC3E}">
        <p14:creationId xmlns:p14="http://schemas.microsoft.com/office/powerpoint/2010/main" val="3089021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61987-0863-CDD6-1B4E-8CD66430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D9971B-11F5-EEAA-8B15-061368A2466D}"/>
              </a:ext>
            </a:extLst>
          </p:cNvPr>
          <p:cNvSpPr/>
          <p:nvPr/>
        </p:nvSpPr>
        <p:spPr>
          <a:xfrm>
            <a:off x="0" y="-1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D7342D-6418-B5FF-E5FF-4D5BB209F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4323"/>
            <a:ext cx="11815638" cy="36554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F8935C-1AC7-2A4E-48BD-0BDD50C2CC12}"/>
              </a:ext>
            </a:extLst>
          </p:cNvPr>
          <p:cNvSpPr txBox="1"/>
          <p:nvPr/>
        </p:nvSpPr>
        <p:spPr>
          <a:xfrm>
            <a:off x="3005592" y="0"/>
            <a:ext cx="58044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/>
              <a:t>Simulation of Cache Top Module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702CE8-E60D-2FF2-F30E-92CEBA2458EA}"/>
              </a:ext>
            </a:extLst>
          </p:cNvPr>
          <p:cNvCxnSpPr/>
          <p:nvPr/>
        </p:nvCxnSpPr>
        <p:spPr>
          <a:xfrm>
            <a:off x="5247861" y="3331597"/>
            <a:ext cx="0" cy="1765189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B7C9BA-B5F3-ADDD-A8C2-154B56F3AC7F}"/>
              </a:ext>
            </a:extLst>
          </p:cNvPr>
          <p:cNvCxnSpPr/>
          <p:nvPr/>
        </p:nvCxnSpPr>
        <p:spPr>
          <a:xfrm flipH="1">
            <a:off x="4754880" y="5112689"/>
            <a:ext cx="4770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E351492-A888-36B9-2864-2037CB637C2D}"/>
              </a:ext>
            </a:extLst>
          </p:cNvPr>
          <p:cNvSpPr txBox="1"/>
          <p:nvPr/>
        </p:nvSpPr>
        <p:spPr>
          <a:xfrm>
            <a:off x="2390361" y="4883032"/>
            <a:ext cx="23853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>
                <a:solidFill>
                  <a:srgbClr val="FFC000"/>
                </a:solidFill>
              </a:rPr>
              <a:t>Cache write operation:</a:t>
            </a:r>
          </a:p>
          <a:p>
            <a:r>
              <a:rPr lang="en-US" sz="1400"/>
              <a:t>Data 1100 stored into cache line selected by address 10110</a:t>
            </a:r>
            <a:endParaRPr lang="en-IN" sz="140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9E3AE5-C61A-42EA-9DFA-6DB648521EBF}"/>
              </a:ext>
            </a:extLst>
          </p:cNvPr>
          <p:cNvCxnSpPr/>
          <p:nvPr/>
        </p:nvCxnSpPr>
        <p:spPr>
          <a:xfrm>
            <a:off x="6901732" y="3331597"/>
            <a:ext cx="0" cy="1781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82AED7-CE03-384A-6D24-21EEE35F6767}"/>
              </a:ext>
            </a:extLst>
          </p:cNvPr>
          <p:cNvSpPr txBox="1"/>
          <p:nvPr/>
        </p:nvSpPr>
        <p:spPr>
          <a:xfrm>
            <a:off x="6389864" y="4993219"/>
            <a:ext cx="1781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C000"/>
                </a:solidFill>
              </a:rPr>
              <a:t>Address split </a:t>
            </a:r>
            <a:r>
              <a:rPr lang="en-US" sz="1400"/>
              <a:t>logic extracts:</a:t>
            </a:r>
          </a:p>
          <a:p>
            <a:r>
              <a:rPr lang="en-US" sz="1400"/>
              <a:t>TAG = 101</a:t>
            </a:r>
          </a:p>
          <a:p>
            <a:r>
              <a:rPr lang="en-US" sz="1400"/>
              <a:t>INDEX = 10</a:t>
            </a:r>
            <a:endParaRPr lang="en-IN" sz="14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493208-E51B-CFF5-157B-68688E941741}"/>
              </a:ext>
            </a:extLst>
          </p:cNvPr>
          <p:cNvCxnSpPr/>
          <p:nvPr/>
        </p:nvCxnSpPr>
        <p:spPr>
          <a:xfrm>
            <a:off x="5645426" y="3872285"/>
            <a:ext cx="0" cy="1711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DF07D5F-A4EA-23CE-F1A7-296A83F6A958}"/>
              </a:ext>
            </a:extLst>
          </p:cNvPr>
          <p:cNvSpPr txBox="1"/>
          <p:nvPr/>
        </p:nvSpPr>
        <p:spPr>
          <a:xfrm>
            <a:off x="3954119" y="5482020"/>
            <a:ext cx="21335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>
                <a:solidFill>
                  <a:srgbClr val="FFC000"/>
                </a:solidFill>
              </a:rPr>
              <a:t>Cache hit detected</a:t>
            </a:r>
            <a:r>
              <a:rPr lang="en-US" sz="1400"/>
              <a:t>:</a:t>
            </a:r>
          </a:p>
          <a:p>
            <a:r>
              <a:rPr lang="en-US" sz="1400"/>
              <a:t>Stored tag matches CPU tag and valid bit = 1.</a:t>
            </a:r>
            <a:br>
              <a:rPr lang="en-US" sz="1400"/>
            </a:br>
            <a:r>
              <a:rPr lang="en-US" sz="1400"/>
              <a:t>Cached data returned directly to CPU.</a:t>
            </a:r>
            <a:endParaRPr lang="en-IN" sz="14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142FA9-3A3D-791B-E576-5896646F0458}"/>
              </a:ext>
            </a:extLst>
          </p:cNvPr>
          <p:cNvCxnSpPr/>
          <p:nvPr/>
        </p:nvCxnSpPr>
        <p:spPr>
          <a:xfrm>
            <a:off x="7919499" y="3331597"/>
            <a:ext cx="0" cy="168567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F2BAFB-A72E-FBBB-A3EE-D233DF5C3CEF}"/>
              </a:ext>
            </a:extLst>
          </p:cNvPr>
          <p:cNvCxnSpPr/>
          <p:nvPr/>
        </p:nvCxnSpPr>
        <p:spPr>
          <a:xfrm>
            <a:off x="7919499" y="5017273"/>
            <a:ext cx="341906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9F183E-2AFD-DC60-EB7C-06AA19E84D80}"/>
              </a:ext>
            </a:extLst>
          </p:cNvPr>
          <p:cNvCxnSpPr/>
          <p:nvPr/>
        </p:nvCxnSpPr>
        <p:spPr>
          <a:xfrm>
            <a:off x="8261405" y="5017273"/>
            <a:ext cx="0" cy="413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BC2E256-79E6-95F7-9D9E-F6D5C157D3EF}"/>
              </a:ext>
            </a:extLst>
          </p:cNvPr>
          <p:cNvSpPr txBox="1"/>
          <p:nvPr/>
        </p:nvSpPr>
        <p:spPr>
          <a:xfrm>
            <a:off x="8213697" y="5091930"/>
            <a:ext cx="16737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>
                <a:solidFill>
                  <a:srgbClr val="FFC000"/>
                </a:solidFill>
              </a:rPr>
              <a:t>Cache miss:</a:t>
            </a:r>
          </a:p>
          <a:p>
            <a:r>
              <a:rPr lang="en-US" sz="1400"/>
              <a:t>Tag mismatch or invalid cache line detected</a:t>
            </a:r>
            <a:endParaRPr lang="en-IN" sz="14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25D565A-AECE-2B82-2160-7B0AE6F5DEDC}"/>
              </a:ext>
            </a:extLst>
          </p:cNvPr>
          <p:cNvCxnSpPr/>
          <p:nvPr/>
        </p:nvCxnSpPr>
        <p:spPr>
          <a:xfrm>
            <a:off x="9271221" y="3102066"/>
            <a:ext cx="0" cy="2010623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820D1BE-E539-F4CC-A122-B0DDE2F5B551}"/>
              </a:ext>
            </a:extLst>
          </p:cNvPr>
          <p:cNvCxnSpPr/>
          <p:nvPr/>
        </p:nvCxnSpPr>
        <p:spPr>
          <a:xfrm>
            <a:off x="9271221" y="5112689"/>
            <a:ext cx="2782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DDF3104-2037-30D2-42C6-A48A3567D52F}"/>
              </a:ext>
            </a:extLst>
          </p:cNvPr>
          <p:cNvSpPr txBox="1"/>
          <p:nvPr/>
        </p:nvSpPr>
        <p:spPr>
          <a:xfrm>
            <a:off x="9641618" y="4905955"/>
            <a:ext cx="18036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C000"/>
                </a:solidFill>
              </a:rPr>
              <a:t>New cache line </a:t>
            </a:r>
            <a:r>
              <a:rPr lang="en-US" sz="1400"/>
              <a:t>written into SRAM arrays</a:t>
            </a:r>
            <a:endParaRPr lang="en-IN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7DB4A2-F5C1-0CB8-6E59-C996B2FA75A4}"/>
              </a:ext>
            </a:extLst>
          </p:cNvPr>
          <p:cNvSpPr txBox="1"/>
          <p:nvPr/>
        </p:nvSpPr>
        <p:spPr>
          <a:xfrm>
            <a:off x="6288156" y="6018888"/>
            <a:ext cx="55248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cache_top module integrates </a:t>
            </a:r>
            <a:r>
              <a:rPr lang="en-US" sz="1400">
                <a:solidFill>
                  <a:srgbClr val="FFC000"/>
                </a:solidFill>
              </a:rPr>
              <a:t>address split logic</a:t>
            </a:r>
            <a:r>
              <a:rPr lang="en-US" sz="1400"/>
              <a:t>, </a:t>
            </a:r>
            <a:r>
              <a:rPr lang="en-US" sz="1400">
                <a:solidFill>
                  <a:srgbClr val="FFC000"/>
                </a:solidFill>
              </a:rPr>
              <a:t>SRAM arrays</a:t>
            </a:r>
            <a:r>
              <a:rPr lang="en-US" sz="1400"/>
              <a:t>, </a:t>
            </a:r>
            <a:r>
              <a:rPr lang="en-US" sz="1400">
                <a:solidFill>
                  <a:srgbClr val="FFC000"/>
                </a:solidFill>
              </a:rPr>
              <a:t>valid bit array</a:t>
            </a:r>
            <a:r>
              <a:rPr lang="en-US" sz="1400"/>
              <a:t>, and </a:t>
            </a:r>
            <a:r>
              <a:rPr lang="en-US" sz="1400">
                <a:solidFill>
                  <a:srgbClr val="FFC000"/>
                </a:solidFill>
              </a:rPr>
              <a:t>comparator logic </a:t>
            </a:r>
            <a:r>
              <a:rPr lang="en-US" sz="1400"/>
              <a:t>to perform complete </a:t>
            </a:r>
            <a:r>
              <a:rPr lang="en-US" sz="1400">
                <a:solidFill>
                  <a:srgbClr val="FFC000"/>
                </a:solidFill>
              </a:rPr>
              <a:t>cache hit/miss detection</a:t>
            </a:r>
            <a:r>
              <a:rPr lang="en-US" sz="1400"/>
              <a:t> and data retrieval operations.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1877047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499DA-2E32-CAE3-71B7-85DA5582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B7E6E6-F07D-8BB5-F0D7-98092612A422}"/>
              </a:ext>
            </a:extLst>
          </p:cNvPr>
          <p:cNvSpPr/>
          <p:nvPr/>
        </p:nvSpPr>
        <p:spPr>
          <a:xfrm>
            <a:off x="0" y="-1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638E3-9098-E5CA-48CF-B6D2DCC8ABE5}"/>
              </a:ext>
            </a:extLst>
          </p:cNvPr>
          <p:cNvSpPr txBox="1"/>
          <p:nvPr/>
        </p:nvSpPr>
        <p:spPr>
          <a:xfrm>
            <a:off x="198783" y="1418845"/>
            <a:ext cx="87702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• cache_top performs primary cache lookup operations</a:t>
            </a:r>
          </a:p>
          <a:p>
            <a:endParaRPr lang="en-IN"/>
          </a:p>
          <a:p>
            <a:r>
              <a:rPr lang="en-IN"/>
              <a:t>• Address split logic generates tag and index bits</a:t>
            </a:r>
          </a:p>
          <a:p>
            <a:endParaRPr lang="en-IN"/>
          </a:p>
          <a:p>
            <a:r>
              <a:rPr lang="en-IN"/>
              <a:t>• SRAM arrays store cache data, tags, and validity information</a:t>
            </a:r>
          </a:p>
          <a:p>
            <a:endParaRPr lang="en-IN"/>
          </a:p>
          <a:p>
            <a:r>
              <a:rPr lang="en-IN"/>
              <a:t>• Comparator logic determines cache hit or cache miss</a:t>
            </a:r>
          </a:p>
          <a:p>
            <a:endParaRPr lang="en-IN"/>
          </a:p>
          <a:p>
            <a:r>
              <a:rPr lang="en-IN"/>
              <a:t>• Cache controller FSM coordinates miss handling operations</a:t>
            </a:r>
          </a:p>
          <a:p>
            <a:endParaRPr lang="en-IN"/>
          </a:p>
          <a:p>
            <a:r>
              <a:rPr lang="en-IN"/>
              <a:t>• Dirty bit array tracks modified cache lines</a:t>
            </a:r>
          </a:p>
          <a:p>
            <a:endParaRPr lang="en-IN"/>
          </a:p>
          <a:p>
            <a:r>
              <a:rPr lang="en-IN"/>
              <a:t>• Write policy logic controls memory update behavior</a:t>
            </a:r>
          </a:p>
          <a:p>
            <a:endParaRPr lang="en-IN"/>
          </a:p>
          <a:p>
            <a:r>
              <a:rPr lang="en-IN"/>
              <a:t>• Block replacement logic selects cache line replacement during misses</a:t>
            </a:r>
          </a:p>
          <a:p>
            <a:endParaRPr lang="en-IN"/>
          </a:p>
          <a:p>
            <a:r>
              <a:rPr lang="en-IN"/>
              <a:t>• Main memory module supplies data during cache refill operations</a:t>
            </a:r>
          </a:p>
          <a:p>
            <a:endParaRPr lang="en-IN"/>
          </a:p>
          <a:p>
            <a:r>
              <a:rPr lang="en-IN"/>
              <a:t>• All modules operate together as a unified cache memory subsystem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DEC90-BA46-71A3-5C3F-97A9C2D8E21A}"/>
              </a:ext>
            </a:extLst>
          </p:cNvPr>
          <p:cNvSpPr txBox="1"/>
          <p:nvPr/>
        </p:nvSpPr>
        <p:spPr>
          <a:xfrm>
            <a:off x="2350936" y="238540"/>
            <a:ext cx="7490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/>
              <a:t>Final Cache System</a:t>
            </a:r>
          </a:p>
        </p:txBody>
      </p:sp>
    </p:spTree>
    <p:extLst>
      <p:ext uri="{BB962C8B-B14F-4D97-AF65-F5344CB8AC3E}">
        <p14:creationId xmlns:p14="http://schemas.microsoft.com/office/powerpoint/2010/main" val="2709388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0D57BD1-26EB-84AE-53FE-63B37CF23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028" y="-2"/>
            <a:ext cx="6732574" cy="70805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C7DB1E-861D-C13C-20DD-A7758FC12DE7}"/>
              </a:ext>
            </a:extLst>
          </p:cNvPr>
          <p:cNvSpPr txBox="1"/>
          <p:nvPr/>
        </p:nvSpPr>
        <p:spPr>
          <a:xfrm>
            <a:off x="0" y="131520"/>
            <a:ext cx="315589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• CPU address is divided into </a:t>
            </a:r>
            <a:r>
              <a:rPr lang="en-US" sz="1400">
                <a:solidFill>
                  <a:srgbClr val="FFC000"/>
                </a:solidFill>
              </a:rPr>
              <a:t>TAG</a:t>
            </a:r>
            <a:r>
              <a:rPr lang="en-US" sz="1400"/>
              <a:t> and </a:t>
            </a:r>
            <a:r>
              <a:rPr lang="en-US" sz="1400">
                <a:solidFill>
                  <a:srgbClr val="FFC000"/>
                </a:solidFill>
              </a:rPr>
              <a:t>INDEX</a:t>
            </a:r>
            <a:r>
              <a:rPr lang="en-US" sz="1400"/>
              <a:t> bits.</a:t>
            </a:r>
          </a:p>
          <a:p>
            <a:endParaRPr lang="en-US" sz="1400"/>
          </a:p>
          <a:p>
            <a:r>
              <a:rPr lang="en-US" sz="1400"/>
              <a:t>• </a:t>
            </a:r>
            <a:r>
              <a:rPr lang="en-US" sz="1400">
                <a:solidFill>
                  <a:srgbClr val="FFC000"/>
                </a:solidFill>
              </a:rPr>
              <a:t>Data SRAM</a:t>
            </a:r>
            <a:r>
              <a:rPr lang="en-US" sz="1400"/>
              <a:t>, </a:t>
            </a:r>
            <a:r>
              <a:rPr lang="en-US" sz="1400">
                <a:solidFill>
                  <a:srgbClr val="FFC000"/>
                </a:solidFill>
              </a:rPr>
              <a:t>Tag SRAM </a:t>
            </a:r>
            <a:r>
              <a:rPr lang="en-US" sz="1400"/>
              <a:t>and </a:t>
            </a:r>
            <a:r>
              <a:rPr lang="en-US" sz="1400">
                <a:solidFill>
                  <a:srgbClr val="FFC000"/>
                </a:solidFill>
              </a:rPr>
              <a:t>Valid Bit Array</a:t>
            </a:r>
            <a:r>
              <a:rPr lang="en-US" sz="1400"/>
              <a:t> are accessed simultaneously.</a:t>
            </a:r>
          </a:p>
          <a:p>
            <a:endParaRPr lang="en-US" sz="1400"/>
          </a:p>
          <a:p>
            <a:r>
              <a:rPr lang="en-US" sz="1400"/>
              <a:t>• </a:t>
            </a:r>
            <a:r>
              <a:rPr lang="en-US" sz="1400">
                <a:solidFill>
                  <a:srgbClr val="FFC000"/>
                </a:solidFill>
              </a:rPr>
              <a:t>Comparator</a:t>
            </a:r>
            <a:r>
              <a:rPr lang="en-US" sz="1400"/>
              <a:t> checks tag matching and valid bit status.</a:t>
            </a:r>
          </a:p>
          <a:p>
            <a:endParaRPr lang="en-US" sz="1400"/>
          </a:p>
          <a:p>
            <a:r>
              <a:rPr lang="en-US" sz="1400"/>
              <a:t>• </a:t>
            </a:r>
            <a:r>
              <a:rPr lang="en-US" sz="1400">
                <a:solidFill>
                  <a:srgbClr val="FFC000"/>
                </a:solidFill>
              </a:rPr>
              <a:t>Matching tag </a:t>
            </a:r>
            <a:r>
              <a:rPr lang="en-US" sz="1400"/>
              <a:t>and </a:t>
            </a:r>
            <a:r>
              <a:rPr lang="en-US" sz="1400">
                <a:solidFill>
                  <a:srgbClr val="FFC000"/>
                </a:solidFill>
              </a:rPr>
              <a:t>valid bit </a:t>
            </a:r>
            <a:r>
              <a:rPr lang="en-US" sz="1400"/>
              <a:t>generate cache HIT.</a:t>
            </a:r>
          </a:p>
          <a:p>
            <a:endParaRPr lang="en-US" sz="1400"/>
          </a:p>
          <a:p>
            <a:r>
              <a:rPr lang="en-US" sz="1400"/>
              <a:t>• </a:t>
            </a:r>
            <a:r>
              <a:rPr lang="en-US" sz="1400">
                <a:solidFill>
                  <a:srgbClr val="FFC000"/>
                </a:solidFill>
              </a:rPr>
              <a:t>Cache HIT </a:t>
            </a:r>
            <a:r>
              <a:rPr lang="en-US" sz="1400"/>
              <a:t>enables </a:t>
            </a:r>
            <a:r>
              <a:rPr lang="en-US" sz="1400">
                <a:solidFill>
                  <a:srgbClr val="FFC000"/>
                </a:solidFill>
              </a:rPr>
              <a:t>immediate SRAM </a:t>
            </a:r>
            <a:r>
              <a:rPr lang="en-US" sz="1400"/>
              <a:t>data return to CPU.</a:t>
            </a:r>
          </a:p>
          <a:p>
            <a:endParaRPr lang="en-US" sz="1400"/>
          </a:p>
          <a:p>
            <a:r>
              <a:rPr lang="en-US" sz="1400"/>
              <a:t>• </a:t>
            </a:r>
            <a:r>
              <a:rPr lang="en-US" sz="1400">
                <a:solidFill>
                  <a:srgbClr val="FFC000"/>
                </a:solidFill>
              </a:rPr>
              <a:t>SRAM-based cache </a:t>
            </a:r>
            <a:r>
              <a:rPr lang="en-US" sz="1400"/>
              <a:t>access significantly reduces memory latency.</a:t>
            </a:r>
            <a:endParaRPr lang="en-IN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44029C-3189-FEA5-FA70-3FDFDB5BFC56}"/>
              </a:ext>
            </a:extLst>
          </p:cNvPr>
          <p:cNvSpPr txBox="1"/>
          <p:nvPr/>
        </p:nvSpPr>
        <p:spPr>
          <a:xfrm>
            <a:off x="7210004" y="202301"/>
            <a:ext cx="467719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• </a:t>
            </a:r>
            <a:r>
              <a:rPr lang="en-US" sz="1400">
                <a:solidFill>
                  <a:srgbClr val="FFC000"/>
                </a:solidFill>
              </a:rPr>
              <a:t>Cache MISS</a:t>
            </a:r>
            <a:r>
              <a:rPr lang="en-US" sz="1400"/>
              <a:t> activates the cache controller FSM.</a:t>
            </a:r>
          </a:p>
          <a:p>
            <a:endParaRPr lang="en-US" sz="1400"/>
          </a:p>
          <a:p>
            <a:r>
              <a:rPr lang="en-US" sz="1400"/>
              <a:t>• </a:t>
            </a:r>
            <a:r>
              <a:rPr lang="en-US" sz="1400">
                <a:solidFill>
                  <a:srgbClr val="FFC000"/>
                </a:solidFill>
              </a:rPr>
              <a:t>Dirty bit logic </a:t>
            </a:r>
            <a:r>
              <a:rPr lang="en-US" sz="1400"/>
              <a:t>checks whether modified cache data must be written back.</a:t>
            </a:r>
          </a:p>
          <a:p>
            <a:endParaRPr lang="en-US" sz="1400"/>
          </a:p>
          <a:p>
            <a:r>
              <a:rPr lang="en-US" sz="1400"/>
              <a:t>• </a:t>
            </a:r>
            <a:r>
              <a:rPr lang="en-US" sz="1400">
                <a:solidFill>
                  <a:srgbClr val="FFC000"/>
                </a:solidFill>
              </a:rPr>
              <a:t>Write policy logic</a:t>
            </a:r>
            <a:r>
              <a:rPr lang="en-US" sz="1400"/>
              <a:t> controls memory synchronization behavior.</a:t>
            </a:r>
          </a:p>
          <a:p>
            <a:endParaRPr lang="en-US" sz="1400"/>
          </a:p>
          <a:p>
            <a:r>
              <a:rPr lang="en-US" sz="1400"/>
              <a:t>• </a:t>
            </a:r>
            <a:r>
              <a:rPr lang="en-US" sz="1400">
                <a:solidFill>
                  <a:srgbClr val="FFC000"/>
                </a:solidFill>
              </a:rPr>
              <a:t>Block replacement </a:t>
            </a:r>
            <a:r>
              <a:rPr lang="en-US" sz="1400"/>
              <a:t>logic selects cache line replacement.</a:t>
            </a:r>
          </a:p>
          <a:p>
            <a:endParaRPr lang="en-US" sz="1400"/>
          </a:p>
          <a:p>
            <a:r>
              <a:rPr lang="en-US" sz="1400"/>
              <a:t>• </a:t>
            </a:r>
            <a:r>
              <a:rPr lang="en-US" sz="1400">
                <a:solidFill>
                  <a:srgbClr val="FFC000"/>
                </a:solidFill>
              </a:rPr>
              <a:t>Main memory (DRAM)</a:t>
            </a:r>
            <a:r>
              <a:rPr lang="en-US" sz="1400"/>
              <a:t> supplies updated cache data.</a:t>
            </a:r>
          </a:p>
          <a:p>
            <a:endParaRPr lang="en-US" sz="1400"/>
          </a:p>
          <a:p>
            <a:r>
              <a:rPr lang="en-US" sz="1400"/>
              <a:t>• Refilled cache line is returned back to </a:t>
            </a:r>
            <a:r>
              <a:rPr lang="en-US" sz="1400">
                <a:solidFill>
                  <a:srgbClr val="FFC000"/>
                </a:solidFill>
              </a:rPr>
              <a:t>CPU</a:t>
            </a:r>
            <a:r>
              <a:rPr lang="en-US" sz="1400"/>
              <a:t>.</a:t>
            </a:r>
            <a:endParaRPr lang="en-IN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65BCD6-9D3B-EF19-4980-44EACDC15A60}"/>
              </a:ext>
            </a:extLst>
          </p:cNvPr>
          <p:cNvSpPr txBox="1"/>
          <p:nvPr/>
        </p:nvSpPr>
        <p:spPr>
          <a:xfrm>
            <a:off x="7582236" y="4458712"/>
            <a:ext cx="4215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Integrated cache architecture combining high-speed </a:t>
            </a:r>
            <a:r>
              <a:rPr lang="en-US" sz="1600">
                <a:solidFill>
                  <a:srgbClr val="FFC000"/>
                </a:solidFill>
              </a:rPr>
              <a:t>SRAM datapath </a:t>
            </a:r>
            <a:r>
              <a:rPr lang="en-US" sz="1600"/>
              <a:t>and </a:t>
            </a:r>
            <a:r>
              <a:rPr lang="en-US" sz="1600">
                <a:solidFill>
                  <a:srgbClr val="FFC000"/>
                </a:solidFill>
              </a:rPr>
              <a:t>memory management control logic</a:t>
            </a:r>
            <a:r>
              <a:rPr lang="en-US" sz="1600"/>
              <a:t>.</a:t>
            </a:r>
            <a:endParaRPr lang="en-IN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B97E0B-B032-E349-DA23-2E35C39730D4}"/>
              </a:ext>
            </a:extLst>
          </p:cNvPr>
          <p:cNvSpPr txBox="1"/>
          <p:nvPr/>
        </p:nvSpPr>
        <p:spPr>
          <a:xfrm>
            <a:off x="7582236" y="5354122"/>
            <a:ext cx="4151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If </a:t>
            </a:r>
            <a:r>
              <a:rPr lang="en-US" sz="1600">
                <a:solidFill>
                  <a:srgbClr val="FFC000"/>
                </a:solidFill>
              </a:rPr>
              <a:t>cache miss </a:t>
            </a:r>
            <a:r>
              <a:rPr lang="en-US" sz="1600"/>
              <a:t>occurs, the control subsystem becomes active.</a:t>
            </a:r>
            <a:endParaRPr lang="en-IN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29E46A-9FC0-93EB-CA9B-918E63147E03}"/>
              </a:ext>
            </a:extLst>
          </p:cNvPr>
          <p:cNvSpPr txBox="1"/>
          <p:nvPr/>
        </p:nvSpPr>
        <p:spPr>
          <a:xfrm>
            <a:off x="178025" y="4304963"/>
            <a:ext cx="41512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/>
              <a:t>Advantages of Cache Memory:</a:t>
            </a:r>
          </a:p>
          <a:p>
            <a:r>
              <a:rPr lang="en-US"/>
              <a:t>• </a:t>
            </a:r>
            <a:r>
              <a:rPr lang="en-US">
                <a:solidFill>
                  <a:srgbClr val="FFC000"/>
                </a:solidFill>
              </a:rPr>
              <a:t>High-speed </a:t>
            </a:r>
            <a:r>
              <a:rPr lang="en-US"/>
              <a:t>SRAM based architecture</a:t>
            </a:r>
          </a:p>
          <a:p>
            <a:endParaRPr lang="en-US"/>
          </a:p>
          <a:p>
            <a:r>
              <a:rPr lang="en-US"/>
              <a:t>• </a:t>
            </a:r>
            <a:r>
              <a:rPr lang="en-US">
                <a:solidFill>
                  <a:srgbClr val="FFC000"/>
                </a:solidFill>
              </a:rPr>
              <a:t>Parallel cache </a:t>
            </a:r>
            <a:r>
              <a:rPr lang="en-US"/>
              <a:t>lookup operation</a:t>
            </a:r>
          </a:p>
          <a:p>
            <a:endParaRPr lang="en-US"/>
          </a:p>
          <a:p>
            <a:r>
              <a:rPr lang="en-US"/>
              <a:t>• </a:t>
            </a:r>
            <a:r>
              <a:rPr lang="en-US">
                <a:solidFill>
                  <a:srgbClr val="FFC000"/>
                </a:solidFill>
              </a:rPr>
              <a:t>Reduced average memory access time</a:t>
            </a:r>
          </a:p>
          <a:p>
            <a:endParaRPr lang="en-US"/>
          </a:p>
          <a:p>
            <a:r>
              <a:rPr lang="en-US"/>
              <a:t>• Efficient </a:t>
            </a:r>
            <a:r>
              <a:rPr lang="en-US">
                <a:solidFill>
                  <a:srgbClr val="FFC000"/>
                </a:solidFill>
              </a:rPr>
              <a:t>hit/miss </a:t>
            </a:r>
            <a:r>
              <a:rPr lang="en-US"/>
              <a:t>management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884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ED9BE6-4032-CAB6-2331-4736F2C69227}"/>
              </a:ext>
            </a:extLst>
          </p:cNvPr>
          <p:cNvSpPr/>
          <p:nvPr/>
        </p:nvSpPr>
        <p:spPr>
          <a:xfrm>
            <a:off x="0" y="-1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D4DBE-B409-BBBD-3341-D19A4F5C0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6006"/>
            <a:ext cx="12192000" cy="56874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5190CB-EB2B-CE42-7EFA-B90C6A163CA3}"/>
              </a:ext>
            </a:extLst>
          </p:cNvPr>
          <p:cNvSpPr txBox="1"/>
          <p:nvPr/>
        </p:nvSpPr>
        <p:spPr>
          <a:xfrm>
            <a:off x="2953966" y="164837"/>
            <a:ext cx="6284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/>
              <a:t>Schematic of Cache Memory</a:t>
            </a:r>
          </a:p>
        </p:txBody>
      </p:sp>
    </p:spTree>
    <p:extLst>
      <p:ext uri="{BB962C8B-B14F-4D97-AF65-F5344CB8AC3E}">
        <p14:creationId xmlns:p14="http://schemas.microsoft.com/office/powerpoint/2010/main" val="1969463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D694CF-93DE-7230-FB10-D08C5D55B676}"/>
              </a:ext>
            </a:extLst>
          </p:cNvPr>
          <p:cNvSpPr/>
          <p:nvPr/>
        </p:nvSpPr>
        <p:spPr>
          <a:xfrm>
            <a:off x="0" y="-1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9988B-950A-E46C-DA42-E108014C8F22}"/>
              </a:ext>
            </a:extLst>
          </p:cNvPr>
          <p:cNvSpPr txBox="1"/>
          <p:nvPr/>
        </p:nvSpPr>
        <p:spPr>
          <a:xfrm>
            <a:off x="1448463" y="190831"/>
            <a:ext cx="9295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/>
              <a:t>Simulation of Full Cache Memory: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BECFC-7D68-1897-2024-E0D88A36B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4323"/>
            <a:ext cx="12192000" cy="32881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6495C4-5801-D4C5-CF79-1E4193605A38}"/>
              </a:ext>
            </a:extLst>
          </p:cNvPr>
          <p:cNvSpPr txBox="1"/>
          <p:nvPr/>
        </p:nvSpPr>
        <p:spPr>
          <a:xfrm>
            <a:off x="-94290" y="4675367"/>
            <a:ext cx="2743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u="sng">
                <a:solidFill>
                  <a:srgbClr val="FFC000"/>
                </a:solidFill>
              </a:rPr>
              <a:t>Cache write operation:</a:t>
            </a:r>
          </a:p>
          <a:p>
            <a:pPr algn="ctr"/>
            <a:r>
              <a:rPr lang="en-US" sz="1400"/>
              <a:t>Data 1100 written into cache line selected by address 10110.</a:t>
            </a:r>
            <a:endParaRPr lang="en-IN" sz="140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DFE6BA-AF22-B02C-7B1F-AA51C9E94CA3}"/>
              </a:ext>
            </a:extLst>
          </p:cNvPr>
          <p:cNvCxnSpPr/>
          <p:nvPr/>
        </p:nvCxnSpPr>
        <p:spPr>
          <a:xfrm>
            <a:off x="2443795" y="3228722"/>
            <a:ext cx="0" cy="1446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814716-D2ED-9A36-16A6-6B38C779F13A}"/>
              </a:ext>
            </a:extLst>
          </p:cNvPr>
          <p:cNvCxnSpPr>
            <a:cxnSpLocks/>
          </p:cNvCxnSpPr>
          <p:nvPr/>
        </p:nvCxnSpPr>
        <p:spPr>
          <a:xfrm>
            <a:off x="2775568" y="3429000"/>
            <a:ext cx="0" cy="2251609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6F68B0-8235-7848-024B-472FEA340B7B}"/>
              </a:ext>
            </a:extLst>
          </p:cNvPr>
          <p:cNvCxnSpPr/>
          <p:nvPr/>
        </p:nvCxnSpPr>
        <p:spPr>
          <a:xfrm flipH="1">
            <a:off x="2511345" y="5680609"/>
            <a:ext cx="275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A5B2DB9-F3BC-717B-235A-43C94FFD7066}"/>
              </a:ext>
            </a:extLst>
          </p:cNvPr>
          <p:cNvSpPr txBox="1"/>
          <p:nvPr/>
        </p:nvSpPr>
        <p:spPr>
          <a:xfrm>
            <a:off x="364141" y="5526929"/>
            <a:ext cx="2422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Cached data immediately returned to CPU through SRAM datapath.</a:t>
            </a:r>
            <a:endParaRPr lang="en-IN" sz="140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720C42-44A7-2AC2-C76B-8F461C1EC397}"/>
              </a:ext>
            </a:extLst>
          </p:cNvPr>
          <p:cNvCxnSpPr/>
          <p:nvPr/>
        </p:nvCxnSpPr>
        <p:spPr>
          <a:xfrm>
            <a:off x="4256411" y="3228722"/>
            <a:ext cx="0" cy="1521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251D94B-E663-4345-B39A-28D3A3AFE35F}"/>
              </a:ext>
            </a:extLst>
          </p:cNvPr>
          <p:cNvSpPr txBox="1"/>
          <p:nvPr/>
        </p:nvSpPr>
        <p:spPr>
          <a:xfrm>
            <a:off x="3660413" y="4666932"/>
            <a:ext cx="1772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>
                <a:solidFill>
                  <a:srgbClr val="FFC000"/>
                </a:solidFill>
              </a:rPr>
              <a:t>Cache MISS:</a:t>
            </a:r>
          </a:p>
          <a:p>
            <a:r>
              <a:rPr lang="en-US" sz="1400"/>
              <a:t>Requested address not found in cache memory</a:t>
            </a:r>
            <a:endParaRPr lang="en-IN" sz="140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FB60CA-7CB3-5EBC-F038-2AD2DF1AC98E}"/>
              </a:ext>
            </a:extLst>
          </p:cNvPr>
          <p:cNvCxnSpPr/>
          <p:nvPr/>
        </p:nvCxnSpPr>
        <p:spPr>
          <a:xfrm>
            <a:off x="5211271" y="3803257"/>
            <a:ext cx="509798" cy="946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08DF1C1-981E-F6C8-2B34-6D943BA4CFA4}"/>
              </a:ext>
            </a:extLst>
          </p:cNvPr>
          <p:cNvSpPr txBox="1"/>
          <p:nvPr/>
        </p:nvSpPr>
        <p:spPr>
          <a:xfrm>
            <a:off x="5663190" y="4554643"/>
            <a:ext cx="20958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C000"/>
                </a:solidFill>
              </a:rPr>
              <a:t>Cache controller FSM </a:t>
            </a:r>
            <a:r>
              <a:rPr lang="en-US" sz="1400"/>
              <a:t>activates miss handling operations</a:t>
            </a:r>
            <a:endParaRPr lang="en-IN" sz="140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7B236F-7250-504F-9E41-6627FDAAEB9C}"/>
              </a:ext>
            </a:extLst>
          </p:cNvPr>
          <p:cNvCxnSpPr/>
          <p:nvPr/>
        </p:nvCxnSpPr>
        <p:spPr>
          <a:xfrm>
            <a:off x="9637614" y="3609048"/>
            <a:ext cx="0" cy="1140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D0E91D0-A6A3-D1A9-097F-F3A19D80115E}"/>
              </a:ext>
            </a:extLst>
          </p:cNvPr>
          <p:cNvSpPr txBox="1"/>
          <p:nvPr/>
        </p:nvSpPr>
        <p:spPr>
          <a:xfrm>
            <a:off x="8962629" y="4697806"/>
            <a:ext cx="17721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Cache line refilled with updated memory data.</a:t>
            </a:r>
            <a:endParaRPr lang="en-IN" sz="140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CBE8C4-19D9-E51A-A8F4-FE48D79A3428}"/>
              </a:ext>
            </a:extLst>
          </p:cNvPr>
          <p:cNvCxnSpPr/>
          <p:nvPr/>
        </p:nvCxnSpPr>
        <p:spPr>
          <a:xfrm>
            <a:off x="10743537" y="3803257"/>
            <a:ext cx="0" cy="946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87D1CAB-1A9F-BC6C-215D-60D68889D956}"/>
              </a:ext>
            </a:extLst>
          </p:cNvPr>
          <p:cNvSpPr txBox="1"/>
          <p:nvPr/>
        </p:nvSpPr>
        <p:spPr>
          <a:xfrm>
            <a:off x="10895870" y="4605774"/>
            <a:ext cx="13999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Refilled cache line successfully accessed.</a:t>
            </a:r>
            <a:endParaRPr lang="en-IN" sz="14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89D13B-7633-59B1-1B94-2CD5CA1E3022}"/>
              </a:ext>
            </a:extLst>
          </p:cNvPr>
          <p:cNvSpPr txBox="1"/>
          <p:nvPr/>
        </p:nvSpPr>
        <p:spPr>
          <a:xfrm>
            <a:off x="5211271" y="6027003"/>
            <a:ext cx="6942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The integrated cache memory system performs address decoding, cache lookup, hit/miss detection, cache refill, and memory synchronization operations using SRAM datapath and cache control modules.</a:t>
            </a:r>
            <a:endParaRPr lang="en-IN" sz="160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2E6BA57-761D-6AEE-5BF8-6E370E7D8772}"/>
              </a:ext>
            </a:extLst>
          </p:cNvPr>
          <p:cNvCxnSpPr/>
          <p:nvPr/>
        </p:nvCxnSpPr>
        <p:spPr>
          <a:xfrm>
            <a:off x="1990641" y="3609048"/>
            <a:ext cx="0" cy="57048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2CC1BCB-97CF-82DD-C909-8CD70B8B07F1}"/>
              </a:ext>
            </a:extLst>
          </p:cNvPr>
          <p:cNvCxnSpPr/>
          <p:nvPr/>
        </p:nvCxnSpPr>
        <p:spPr>
          <a:xfrm>
            <a:off x="1982549" y="4179536"/>
            <a:ext cx="106814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225E53C-426B-2466-D75E-E3534B7BA44B}"/>
              </a:ext>
            </a:extLst>
          </p:cNvPr>
          <p:cNvCxnSpPr/>
          <p:nvPr/>
        </p:nvCxnSpPr>
        <p:spPr>
          <a:xfrm>
            <a:off x="3034513" y="4179536"/>
            <a:ext cx="0" cy="1716725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6AB0679-FD3B-23BA-526C-D7A7AAC36CE1}"/>
              </a:ext>
            </a:extLst>
          </p:cNvPr>
          <p:cNvCxnSpPr/>
          <p:nvPr/>
        </p:nvCxnSpPr>
        <p:spPr>
          <a:xfrm>
            <a:off x="3034513" y="5896261"/>
            <a:ext cx="8092" cy="1307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7519BC3-D34A-56A9-D967-5C26832735D1}"/>
              </a:ext>
            </a:extLst>
          </p:cNvPr>
          <p:cNvSpPr txBox="1"/>
          <p:nvPr/>
        </p:nvSpPr>
        <p:spPr>
          <a:xfrm>
            <a:off x="2511345" y="6033189"/>
            <a:ext cx="18611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memory locations were not yet written with valid data</a:t>
            </a:r>
            <a:endParaRPr lang="en-IN" sz="140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552D7E4-E683-727F-8668-DDFF6B41A308}"/>
              </a:ext>
            </a:extLst>
          </p:cNvPr>
          <p:cNvCxnSpPr/>
          <p:nvPr/>
        </p:nvCxnSpPr>
        <p:spPr>
          <a:xfrm>
            <a:off x="8909331" y="3609048"/>
            <a:ext cx="0" cy="667593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434A149-58D5-1837-DB63-AAC01EAD0403}"/>
              </a:ext>
            </a:extLst>
          </p:cNvPr>
          <p:cNvCxnSpPr/>
          <p:nvPr/>
        </p:nvCxnSpPr>
        <p:spPr>
          <a:xfrm flipH="1">
            <a:off x="8448085" y="4276641"/>
            <a:ext cx="46933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8BEEC09-BEE7-F439-8A1D-95E9A81218E3}"/>
              </a:ext>
            </a:extLst>
          </p:cNvPr>
          <p:cNvCxnSpPr>
            <a:cxnSpLocks/>
          </p:cNvCxnSpPr>
          <p:nvPr/>
        </p:nvCxnSpPr>
        <p:spPr>
          <a:xfrm>
            <a:off x="8448085" y="4276641"/>
            <a:ext cx="0" cy="806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3B9723B-ABC7-EF14-F571-6F47C1833BE8}"/>
              </a:ext>
            </a:extLst>
          </p:cNvPr>
          <p:cNvSpPr txBox="1"/>
          <p:nvPr/>
        </p:nvSpPr>
        <p:spPr>
          <a:xfrm>
            <a:off x="7171046" y="5049875"/>
            <a:ext cx="22050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XXXX indicates temporary undefined output during cache initialization and transition operations.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2707849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2EF35F-FD4B-1C84-33F2-49ACA65EA480}"/>
              </a:ext>
            </a:extLst>
          </p:cNvPr>
          <p:cNvSpPr/>
          <p:nvPr/>
        </p:nvSpPr>
        <p:spPr>
          <a:xfrm>
            <a:off x="0" y="-1"/>
            <a:ext cx="12192000" cy="12743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C11AE-5D8E-6F82-6FCD-15A29261CB90}"/>
              </a:ext>
            </a:extLst>
          </p:cNvPr>
          <p:cNvSpPr txBox="1"/>
          <p:nvPr/>
        </p:nvSpPr>
        <p:spPr>
          <a:xfrm>
            <a:off x="2772355" y="166977"/>
            <a:ext cx="6647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/>
              <a:t>Conclusion: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8CFA7-54F5-716E-0FA1-4F24C5A8CCF2}"/>
              </a:ext>
            </a:extLst>
          </p:cNvPr>
          <p:cNvSpPr txBox="1"/>
          <p:nvPr/>
        </p:nvSpPr>
        <p:spPr>
          <a:xfrm>
            <a:off x="159026" y="1582310"/>
            <a:ext cx="107342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• Successfully designed and simulated a complete direct-mapped cache memory architecture using Verilog HDL.</a:t>
            </a:r>
          </a:p>
          <a:p>
            <a:endParaRPr lang="en-US"/>
          </a:p>
          <a:p>
            <a:r>
              <a:rPr lang="en-US"/>
              <a:t>• Implemented SRAM-based cache storage, tag comparison, valid bit logic, and cache hit/miss detection.</a:t>
            </a:r>
          </a:p>
          <a:p>
            <a:endParaRPr lang="en-US"/>
          </a:p>
          <a:p>
            <a:r>
              <a:rPr lang="en-US"/>
              <a:t>• Integrated cache controller FSM, dirty bit logic, write policies, replacement logic, and main memory interface.</a:t>
            </a:r>
          </a:p>
          <a:p>
            <a:endParaRPr lang="en-US"/>
          </a:p>
          <a:p>
            <a:r>
              <a:rPr lang="en-US"/>
              <a:t>• Verified cache read/write operations, cache hit handling, and cache miss refill operations through behavioral simulation.</a:t>
            </a:r>
          </a:p>
          <a:p>
            <a:endParaRPr lang="en-US"/>
          </a:p>
          <a:p>
            <a:r>
              <a:rPr lang="en-US"/>
              <a:t>• Demonstrated practical implementation of memory hierarchy and cache management concepts.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226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1173</TotalTime>
  <Words>1533</Words>
  <Application>Microsoft Office PowerPoint</Application>
  <PresentationFormat>Widescreen</PresentationFormat>
  <Paragraphs>246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 Theme</vt:lpstr>
      <vt:lpstr>Design and Implementation of Cache Memory using Verilog HDL</vt:lpstr>
      <vt:lpstr>Memory Hierarchy</vt:lpstr>
      <vt:lpstr>PowerPoint Presentation</vt:lpstr>
      <vt:lpstr>Data SRAM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Srikrishnan</dc:creator>
  <cp:lastModifiedBy>Akshay Srikrishnan</cp:lastModifiedBy>
  <cp:revision>1</cp:revision>
  <dcterms:created xsi:type="dcterms:W3CDTF">2026-05-19T13:55:23Z</dcterms:created>
  <dcterms:modified xsi:type="dcterms:W3CDTF">2026-05-20T10:21:40Z</dcterms:modified>
</cp:coreProperties>
</file>